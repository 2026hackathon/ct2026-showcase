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79" r:id="rId8"/>
    <p:sldId id="260" r:id="rId9"/>
    <p:sldId id="261" r:id="rId10"/>
    <p:sldId id="262" r:id="rId11"/>
    <p:sldId id="277" r:id="rId12"/>
    <p:sldId id="265" r:id="rId13"/>
    <p:sldId id="281" r:id="rId14"/>
    <p:sldId id="271" r:id="rId15"/>
    <p:sldId id="272" r:id="rId16"/>
    <p:sldId id="273" r:id="rId17"/>
    <p:sldId id="284" r:id="rId18"/>
    <p:sldId id="274" r:id="rId19"/>
    <p:sldId id="275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722"/>
    <a:srgbClr val="F1F5F9"/>
    <a:srgbClr val="F973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 1 页｜开场，约 35 秒</a:t>
            </a:r>
            <a:endParaRPr lang="zh-CN" altLang="en-US" dirty="0"/>
          </a:p>
          <a:p>
            <a:r>
              <a:rPr lang="zh-CN" altLang="en-US" dirty="0"/>
              <a:t>各位评委、各位同学大家好，我是 </a:t>
            </a:r>
            <a:r>
              <a:rPr lang="en-US" altLang="zh-CN" dirty="0"/>
              <a:t>Simon，</a:t>
            </a:r>
            <a:r>
              <a:rPr lang="zh-CN" altLang="en-US" dirty="0"/>
              <a:t>今天代表 </a:t>
            </a:r>
            <a:r>
              <a:rPr lang="en-US" altLang="zh-CN" dirty="0"/>
              <a:t>Miller、Brooker </a:t>
            </a:r>
            <a:r>
              <a:rPr lang="zh-CN" altLang="en-US" dirty="0"/>
              <a:t>和我自己，介绍我们的黑客松项目：</a:t>
            </a:r>
            <a:r>
              <a:rPr lang="en-US" altLang="zh-CN" dirty="0"/>
              <a:t>Diggy </a:t>
            </a:r>
            <a:r>
              <a:rPr lang="zh-CN" altLang="en-US" dirty="0"/>
              <a:t>挖挖。</a:t>
            </a:r>
            <a:endParaRPr lang="zh-CN" altLang="en-US" dirty="0"/>
          </a:p>
          <a:p>
            <a:r>
              <a:rPr lang="zh-CN" altLang="en-US" dirty="0"/>
              <a:t>它的定位是一句话：一个可进化的 </a:t>
            </a:r>
            <a:r>
              <a:rPr lang="en-US" altLang="zh-CN" dirty="0"/>
              <a:t>DevOps AI Agent。</a:t>
            </a:r>
            <a:endParaRPr lang="en-US" altLang="zh-CN" dirty="0"/>
          </a:p>
          <a:p>
            <a:r>
              <a:rPr lang="zh-CN" altLang="en-US" dirty="0"/>
              <a:t>我们想解决的不是“再做一个聊天机器人”，而是把开发工程师日常查日志、看指标、定位问题的能力，变成一个人人可用、随叫随到，而且结论可以被验证的服务。简单说，就是让 </a:t>
            </a:r>
            <a:r>
              <a:rPr lang="en-US" altLang="zh-CN" dirty="0"/>
              <a:t>AI </a:t>
            </a:r>
            <a:r>
              <a:rPr lang="zh-CN" altLang="en-US" dirty="0"/>
              <a:t>不只是会说，还要真的会查、会留证据、会交付。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 2 页｜目录，约 25 秒</a:t>
            </a:r>
            <a:endParaRPr lang="zh-CN" altLang="en-US" dirty="0"/>
          </a:p>
          <a:p>
            <a:r>
              <a:rPr lang="zh-CN" altLang="en-US" dirty="0"/>
              <a:t>接下来 10 分钟，我会分五部分介绍 </a:t>
            </a:r>
            <a:r>
              <a:rPr lang="en-US" altLang="zh-CN" dirty="0"/>
              <a:t>Diggy。</a:t>
            </a:r>
            <a:endParaRPr lang="en-US" altLang="zh-CN" dirty="0"/>
          </a:p>
          <a:p>
            <a:r>
              <a:rPr lang="zh-CN" altLang="en-US" dirty="0"/>
              <a:t>第一，为什么我们需要它。第二，它的架构和核心能力。第三，我们如何约束 </a:t>
            </a:r>
            <a:r>
              <a:rPr lang="en-US" altLang="zh-CN" dirty="0"/>
              <a:t>AI，</a:t>
            </a:r>
            <a:r>
              <a:rPr lang="zh-CN" altLang="en-US" dirty="0"/>
              <a:t>让它在运行时和开发时都更可靠。第四，现场 </a:t>
            </a:r>
            <a:r>
              <a:rPr lang="en-US" altLang="zh-CN" dirty="0"/>
              <a:t>Demo。</a:t>
            </a:r>
            <a:r>
              <a:rPr lang="zh-CN" altLang="en-US" dirty="0"/>
              <a:t>最后是我们这次交付了什么，以及后续展望。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 3 页｜痛点，约 60 秒</a:t>
            </a:r>
            <a:endParaRPr lang="zh-CN" altLang="en-US" dirty="0"/>
          </a:p>
          <a:p>
            <a:r>
              <a:rPr lang="zh-CN" altLang="en-US" dirty="0"/>
              <a:t>先说痛点。其实我们并不缺数据。日志系统、</a:t>
            </a:r>
            <a:r>
              <a:rPr lang="en-US" altLang="zh-CN" dirty="0"/>
              <a:t>Kibana、</a:t>
            </a:r>
            <a:r>
              <a:rPr lang="zh-CN" altLang="en-US" dirty="0"/>
              <a:t>集群、各种监控工具都已经很完善了。真正缺的是：从数据到结论的自动化路径。</a:t>
            </a:r>
            <a:endParaRPr lang="zh-CN" altLang="en-US" dirty="0"/>
          </a:p>
          <a:p>
            <a:r>
              <a:rPr lang="zh-CN" altLang="en-US" dirty="0"/>
              <a:t>比如开发早上想知道昨天服务稳不稳，要打开工具、写查询、看结果、再总结。发布前想看最近几天错误趋势，要查多个地方，自己比对。半夜告警来了，人可能不在电脑前，更难快速判断问题大不大。还有一种很常见的情况，同事甩来一条错误日志链接，你想帮忙，但也得先切工具、找上下文。</a:t>
            </a:r>
            <a:endParaRPr lang="zh-CN" altLang="en-US" dirty="0"/>
          </a:p>
          <a:p>
            <a:r>
              <a:rPr lang="zh-CN" altLang="en-US" dirty="0"/>
              <a:t>所以我们的目标很直接：这些事，交给 </a:t>
            </a:r>
            <a:r>
              <a:rPr lang="en-US" altLang="zh-CN" dirty="0"/>
              <a:t>Diggy </a:t>
            </a:r>
            <a:r>
              <a:rPr lang="zh-CN" altLang="en-US" dirty="0"/>
              <a:t>先挖一遍。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 4 页｜核心架构，约 50 秒</a:t>
            </a:r>
            <a:endParaRPr lang="zh-CN" altLang="en-US"/>
          </a:p>
          <a:p>
            <a:r>
              <a:rPr lang="zh-CN" altLang="en-US"/>
              <a:t>这是 </a:t>
            </a:r>
            <a:r>
              <a:rPr lang="en-US" altLang="zh-CN"/>
              <a:t>Diggy </a:t>
            </a:r>
            <a:r>
              <a:rPr lang="zh-CN" altLang="en-US"/>
              <a:t>的核心架构。入口有两个：一种是 </a:t>
            </a:r>
            <a:r>
              <a:rPr lang="en-US" altLang="zh-CN"/>
              <a:t>Slack </a:t>
            </a:r>
            <a:r>
              <a:rPr lang="zh-CN" altLang="en-US"/>
              <a:t>里的用户消息，一种是定时日报任务。进入系统后，</a:t>
            </a:r>
            <a:r>
              <a:rPr lang="en-US" altLang="zh-CN"/>
              <a:t>Entry </a:t>
            </a:r>
            <a:r>
              <a:rPr lang="zh-CN" altLang="en-US"/>
              <a:t>模块会判断这是什么任务，然后创建 </a:t>
            </a:r>
            <a:r>
              <a:rPr lang="en-US" altLang="zh-CN"/>
              <a:t>task。</a:t>
            </a:r>
            <a:endParaRPr lang="en-US" altLang="zh-CN"/>
          </a:p>
          <a:p>
            <a:r>
              <a:rPr lang="zh-CN" altLang="en-US"/>
              <a:t>中间最关键的是 </a:t>
            </a:r>
            <a:r>
              <a:rPr lang="en-US" altLang="zh-CN"/>
              <a:t>Runtime Harness，</a:t>
            </a:r>
            <a:r>
              <a:rPr lang="zh-CN" altLang="en-US"/>
              <a:t>可以理解成 </a:t>
            </a:r>
            <a:r>
              <a:rPr lang="en-US" altLang="zh-CN"/>
              <a:t>Diggy </a:t>
            </a:r>
            <a:r>
              <a:rPr lang="zh-CN" altLang="en-US"/>
              <a:t>的“安全执行框架”。它负责管理任务、证据、校验和审计。</a:t>
            </a:r>
            <a:endParaRPr lang="zh-CN" altLang="en-US"/>
          </a:p>
          <a:p>
            <a:r>
              <a:rPr lang="zh-CN" altLang="en-US"/>
              <a:t>核心能力目前有两个：</a:t>
            </a:r>
            <a:r>
              <a:rPr lang="en-US" altLang="zh-CN"/>
              <a:t>M1 </a:t>
            </a:r>
            <a:r>
              <a:rPr lang="zh-CN" altLang="en-US"/>
              <a:t>日志日报，</a:t>
            </a:r>
            <a:r>
              <a:rPr lang="en-US" altLang="zh-CN"/>
              <a:t>M2 </a:t>
            </a:r>
            <a:r>
              <a:rPr lang="zh-CN" altLang="en-US"/>
              <a:t>日志锚点诊断。底层接 </a:t>
            </a:r>
            <a:r>
              <a:rPr lang="en-US" altLang="zh-CN"/>
              <a:t>Elasticsearch、AKS、DeepSeek </a:t>
            </a:r>
            <a:r>
              <a:rPr lang="zh-CN" altLang="en-US"/>
              <a:t>和工作区存储。最后输出到 </a:t>
            </a:r>
            <a:r>
              <a:rPr lang="en-US" altLang="zh-CN"/>
              <a:t>Slack，</a:t>
            </a:r>
            <a:r>
              <a:rPr lang="zh-CN" altLang="en-US"/>
              <a:t>也会生成 </a:t>
            </a:r>
            <a:r>
              <a:rPr lang="en-US" altLang="zh-CN"/>
              <a:t>Markdown </a:t>
            </a:r>
            <a:r>
              <a:rPr lang="zh-CN" altLang="en-US"/>
              <a:t>归档和 </a:t>
            </a:r>
            <a:r>
              <a:rPr lang="en-US" altLang="zh-CN"/>
              <a:t>PDF </a:t>
            </a:r>
            <a:r>
              <a:rPr lang="zh-CN" altLang="en-US"/>
              <a:t>日报。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 5 页｜产品能力，约 45 秒</a:t>
            </a:r>
            <a:endParaRPr lang="zh-CN" altLang="en-US" dirty="0"/>
          </a:p>
          <a:p>
            <a:r>
              <a:rPr lang="zh-CN" altLang="en-US" dirty="0"/>
              <a:t>从用户角度看，</a:t>
            </a:r>
            <a:r>
              <a:rPr lang="en-US" altLang="zh-CN" dirty="0"/>
              <a:t>Diggy </a:t>
            </a:r>
            <a:r>
              <a:rPr lang="zh-CN" altLang="en-US" dirty="0"/>
              <a:t>很简单，入口就是 </a:t>
            </a:r>
            <a:r>
              <a:rPr lang="en-US" altLang="zh-CN" dirty="0"/>
              <a:t>Slack。</a:t>
            </a:r>
            <a:r>
              <a:rPr lang="zh-CN" altLang="en-US" dirty="0"/>
              <a:t>你 @</a:t>
            </a:r>
            <a:r>
              <a:rPr lang="en-US" altLang="zh-CN" dirty="0"/>
              <a:t>Diggy </a:t>
            </a:r>
            <a:r>
              <a:rPr lang="zh-CN" altLang="en-US" dirty="0"/>
              <a:t>说一句话，它就开始工作。</a:t>
            </a:r>
            <a:endParaRPr lang="zh-CN" altLang="en-US" dirty="0"/>
          </a:p>
          <a:p>
            <a:r>
              <a:rPr lang="en-US" altLang="zh-CN" dirty="0"/>
              <a:t>M1 </a:t>
            </a:r>
            <a:r>
              <a:rPr lang="zh-CN" altLang="en-US" dirty="0"/>
              <a:t>是时间窗报告，比如“帮我分析近三天日志”，它会自动聚合日志并生成健康报告。</a:t>
            </a:r>
            <a:endParaRPr lang="zh-CN" altLang="en-US" dirty="0"/>
          </a:p>
          <a:p>
            <a:r>
              <a:rPr lang="en-US" altLang="zh-CN" dirty="0"/>
              <a:t>M2 </a:t>
            </a:r>
            <a:r>
              <a:rPr lang="zh-CN" altLang="en-US" dirty="0"/>
              <a:t>是日志诊断，比如你给它一个 </a:t>
            </a:r>
            <a:r>
              <a:rPr lang="en-US" altLang="zh-CN" dirty="0"/>
              <a:t>Kibana </a:t>
            </a:r>
            <a:r>
              <a:rPr lang="zh-CN" altLang="en-US" dirty="0"/>
              <a:t>链接或告警 </a:t>
            </a:r>
            <a:r>
              <a:rPr lang="en-US" altLang="zh-CN" dirty="0"/>
              <a:t>ID，</a:t>
            </a:r>
            <a:r>
              <a:rPr lang="zh-CN" altLang="en-US" dirty="0"/>
              <a:t>它会围绕这个锚点继续取证，最后生成诊断报告。</a:t>
            </a:r>
            <a:endParaRPr lang="zh-CN" altLang="en-US" dirty="0"/>
          </a:p>
          <a:p>
            <a:r>
              <a:rPr lang="zh-CN" altLang="en-US" dirty="0"/>
              <a:t>所以它覆盖的是两类核心需求：一类是“我想知道整体状态”，另一类是“我想知道这个问题为什么发生”。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 6 页｜</a:t>
            </a:r>
            <a:r>
              <a:rPr lang="en-US" altLang="zh-CN" dirty="0"/>
              <a:t>M1 </a:t>
            </a:r>
            <a:r>
              <a:rPr lang="zh-CN" altLang="en-US" dirty="0"/>
              <a:t>时间窗报告，约 60 秒</a:t>
            </a:r>
            <a:endParaRPr lang="zh-CN" altLang="en-US" dirty="0"/>
          </a:p>
          <a:p>
            <a:r>
              <a:rPr lang="en-US" altLang="zh-CN" dirty="0"/>
              <a:t>M1 </a:t>
            </a:r>
            <a:r>
              <a:rPr lang="zh-CN" altLang="en-US" dirty="0"/>
              <a:t>的设计原则是：</a:t>
            </a:r>
            <a:r>
              <a:rPr lang="en-US" altLang="zh-CN" dirty="0"/>
              <a:t>AI </a:t>
            </a:r>
            <a:r>
              <a:rPr lang="zh-CN" altLang="en-US" dirty="0"/>
              <a:t>负责理解和表达，确定性系统负责事实和数字。</a:t>
            </a:r>
            <a:endParaRPr lang="zh-CN" altLang="en-US" dirty="0"/>
          </a:p>
          <a:p>
            <a:r>
              <a:rPr lang="zh-CN" altLang="en-US" dirty="0"/>
              <a:t>用户说“帮我分析近三天日志”，</a:t>
            </a:r>
            <a:r>
              <a:rPr lang="en-US" altLang="zh-CN" dirty="0"/>
              <a:t>LLM </a:t>
            </a:r>
            <a:r>
              <a:rPr lang="zh-CN" altLang="en-US" dirty="0"/>
              <a:t>只负责解析时间范围。真正的异常数量、</a:t>
            </a:r>
            <a:r>
              <a:rPr lang="en-US" altLang="zh-CN" dirty="0"/>
              <a:t>Top </a:t>
            </a:r>
            <a:r>
              <a:rPr lang="zh-CN" altLang="en-US" dirty="0"/>
              <a:t>服务、错误码、趋势，全部来自 </a:t>
            </a:r>
            <a:r>
              <a:rPr lang="en-US" altLang="zh-CN" dirty="0"/>
              <a:t>Elasticsearch </a:t>
            </a:r>
            <a:r>
              <a:rPr lang="zh-CN" altLang="en-US" dirty="0"/>
              <a:t>的聚合结果。然后系统根据规则做健康分级，</a:t>
            </a:r>
            <a:r>
              <a:rPr lang="en-US" altLang="zh-CN" dirty="0"/>
              <a:t>LLM </a:t>
            </a:r>
            <a:r>
              <a:rPr lang="zh-CN" altLang="en-US" dirty="0"/>
              <a:t>再把这些结果整理成一份人能看懂的报告。</a:t>
            </a:r>
            <a:endParaRPr lang="zh-CN" altLang="en-US" dirty="0"/>
          </a:p>
          <a:p>
            <a:r>
              <a:rPr lang="zh-CN" altLang="en-US" dirty="0"/>
              <a:t>最后还有一步数据校验。服务名、错误码、数字，都必须能在 </a:t>
            </a:r>
            <a:r>
              <a:rPr lang="en-US" altLang="zh-CN" dirty="0"/>
              <a:t>ES </a:t>
            </a:r>
            <a:r>
              <a:rPr lang="zh-CN" altLang="en-US" dirty="0"/>
              <a:t>聚合结果里找到。找不到，就不能写进报告。这样做是为了防止 </a:t>
            </a:r>
            <a:r>
              <a:rPr lang="en-US" altLang="zh-CN" dirty="0"/>
              <a:t>AI </a:t>
            </a:r>
            <a:r>
              <a:rPr lang="zh-CN" altLang="en-US" dirty="0"/>
              <a:t>一本正经地编东西。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 7 页｜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M2 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锚点诊断，约 70 秒</a:t>
            </a:r>
            <a:endParaRPr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M2 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是我们觉得最有意思的地方。普通 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LLM 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处理日志，常见方式是把一堆日志丢进去，然后让它总结。问题是，它看起来像分析，但你很难知道它到底查过什么、漏了什么、凭什么相信。</a:t>
            </a:r>
            <a:endParaRPr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Diggy 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的做法不是让模型直接猜根因，而是让模型像一个排查助手一样工作：先提出假设，再决定下一步需要查什么证据。每一轮证据都会支持、修正或者推翻假设。最后的结论必须能被原始日志引用支撑。</a:t>
            </a:r>
            <a:endParaRPr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这也是我们的底线：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Diggy 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提供可信证据链辅助决策，但不替代人的最终判断。</a:t>
            </a:r>
            <a:endParaRPr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设计原则：1.没有证据, 就不能从假设升级成结论。2.</a:t>
            </a: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结论必须引用证据池里的原始日志。</a:t>
            </a:r>
            <a:endParaRPr lang="zh-CN" altLang="en-US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indent="0" algn="l">
              <a:lnSpc>
                <a:spcPct val="108000"/>
              </a:lnSpc>
            </a:pPr>
            <a:r>
              <a:rPr lang="zh-CN" alt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</a:t>
            </a:r>
            <a:r>
              <a:rPr lang="en-US" altLang="zh-CN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</a:t>
            </a:r>
            <a:r>
              <a:rPr 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工作模式为“一次性读日志→输出结论”</a:t>
            </a:r>
            <a:r>
              <a:rPr lang="zh-CN" alt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结论依赖模型生成，易脱离真实</a:t>
            </a:r>
            <a:r>
              <a:rPr lang="zh-CN" alt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场景，参考价值有限</a:t>
            </a:r>
            <a:r>
              <a:rPr 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endParaRPr lang="en-US" dirty="0"/>
          </a:p>
          <a:p>
            <a:r>
              <a:rPr lang="zh-CN" altLang="en-US" dirty="0"/>
              <a:t>普通 </a:t>
            </a:r>
            <a:r>
              <a:rPr lang="en-US" altLang="zh-CN" dirty="0"/>
              <a:t>LLM </a:t>
            </a:r>
            <a:r>
              <a:rPr lang="zh-CN" altLang="en-US" dirty="0"/>
              <a:t>是把已有上下文一次性解释掉；</a:t>
            </a:r>
            <a:r>
              <a:rPr lang="en-US" altLang="zh-CN" dirty="0"/>
              <a:t>Diggy </a:t>
            </a:r>
            <a:r>
              <a:rPr lang="zh-CN" altLang="en-US" dirty="0"/>
              <a:t>是带着假设主动挖下一条证据，并让证据反过来约束结论。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审核是全新</a:t>
            </a:r>
            <a:r>
              <a:rPr lang="zh-CN" altLang="en-US"/>
              <a:t>上下文</a:t>
            </a:r>
            <a:endParaRPr lang="zh-CN" altLang="en-US"/>
          </a:p>
          <a:p>
            <a:r>
              <a:rPr lang="zh-CN" altLang="en-US"/>
              <a:t>第 8 页｜</a:t>
            </a:r>
            <a:r>
              <a:rPr lang="en-US" altLang="zh-CN"/>
              <a:t>M2 </a:t>
            </a:r>
            <a:r>
              <a:rPr lang="zh-CN" altLang="en-US"/>
              <a:t>示例流程，约 75 秒</a:t>
            </a:r>
            <a:endParaRPr lang="zh-CN" altLang="en-US"/>
          </a:p>
          <a:p>
            <a:r>
              <a:rPr lang="zh-CN" altLang="en-US"/>
              <a:t>举个例子，一个订单请求失败了，日志里看到 </a:t>
            </a:r>
            <a:r>
              <a:rPr lang="en-US" altLang="zh-CN"/>
              <a:t>payment timeout。</a:t>
            </a:r>
            <a:r>
              <a:rPr lang="zh-CN" altLang="en-US"/>
              <a:t>普通做法可能直接说“支付服务挂了”。但 </a:t>
            </a:r>
            <a:r>
              <a:rPr lang="en-US" altLang="zh-CN"/>
              <a:t>Diggy </a:t>
            </a:r>
            <a:r>
              <a:rPr lang="zh-CN" altLang="en-US"/>
              <a:t>不会这么快下结论。</a:t>
            </a:r>
            <a:endParaRPr lang="zh-CN" altLang="en-US"/>
          </a:p>
          <a:p>
            <a:r>
              <a:rPr lang="zh-CN" altLang="en-US"/>
              <a:t>它会先建立证据池：</a:t>
            </a:r>
            <a:r>
              <a:rPr lang="en-US" altLang="zh-CN"/>
              <a:t>traceId、</a:t>
            </a:r>
            <a:r>
              <a:rPr lang="zh-CN" altLang="en-US"/>
              <a:t>时间、订单请求、错误信息。然后提出第一个假设：</a:t>
            </a:r>
            <a:r>
              <a:rPr lang="en-US" altLang="zh-CN"/>
              <a:t>Payment </a:t>
            </a:r>
            <a:r>
              <a:rPr lang="zh-CN" altLang="en-US"/>
              <a:t>服务是不是挂了？接着去查服务健康和 </a:t>
            </a:r>
            <a:r>
              <a:rPr lang="en-US" altLang="zh-CN"/>
              <a:t>Pod </a:t>
            </a:r>
            <a:r>
              <a:rPr lang="zh-CN" altLang="en-US"/>
              <a:t>日志。结果发现实例正常，没有大量异常，那这个假设就被推翻。</a:t>
            </a:r>
            <a:endParaRPr lang="zh-CN" altLang="en-US"/>
          </a:p>
          <a:p>
            <a:r>
              <a:rPr lang="zh-CN" altLang="en-US"/>
              <a:t>然后它提出第二个假设：服务没挂，但接口太慢。继续查同一个链路里的 </a:t>
            </a:r>
            <a:r>
              <a:rPr lang="en-US" altLang="zh-CN"/>
              <a:t>payment </a:t>
            </a:r>
            <a:r>
              <a:rPr lang="zh-CN" altLang="en-US"/>
              <a:t>日志，发现 /</a:t>
            </a:r>
            <a:r>
              <a:rPr lang="en-US" altLang="zh-CN"/>
              <a:t>doPayment </a:t>
            </a:r>
            <a:r>
              <a:rPr lang="zh-CN" altLang="en-US"/>
              <a:t>耗时 35 秒，而 </a:t>
            </a:r>
            <a:r>
              <a:rPr lang="en-US" altLang="zh-CN"/>
              <a:t>order </a:t>
            </a:r>
            <a:r>
              <a:rPr lang="zh-CN" altLang="en-US"/>
              <a:t>的超时阈值是 30 秒。到这里，结论就不是“我猜 </a:t>
            </a:r>
            <a:r>
              <a:rPr lang="en-US" altLang="zh-CN"/>
              <a:t>payment </a:t>
            </a:r>
            <a:r>
              <a:rPr lang="zh-CN" altLang="en-US"/>
              <a:t>有问题”，而是“基于同一个 </a:t>
            </a:r>
            <a:r>
              <a:rPr lang="en-US" altLang="zh-CN"/>
              <a:t>trace </a:t>
            </a:r>
            <a:r>
              <a:rPr lang="zh-CN" altLang="en-US"/>
              <a:t>的原始日志，</a:t>
            </a:r>
            <a:r>
              <a:rPr lang="en-US" altLang="zh-CN"/>
              <a:t>payment </a:t>
            </a:r>
            <a:r>
              <a:rPr lang="zh-CN" altLang="en-US"/>
              <a:t>响应超过了 </a:t>
            </a:r>
            <a:r>
              <a:rPr lang="en-US" altLang="zh-CN"/>
              <a:t>order </a:t>
            </a:r>
            <a:r>
              <a:rPr lang="zh-CN" altLang="en-US"/>
              <a:t>的等待阈值”。</a:t>
            </a:r>
            <a:endParaRPr lang="zh-CN" altLang="en-US"/>
          </a:p>
          <a:p>
            <a:r>
              <a:rPr lang="zh-CN" altLang="en-US"/>
              <a:t>这就是从猜测到取证的区别。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参与了哪些环节：需求梳理，架构设计，编码，测试出题，</a:t>
            </a:r>
            <a:r>
              <a:rPr lang="en-US" altLang="zh-CN" dirty="0">
                <a:sym typeface="+mn-ea"/>
              </a:rPr>
              <a:t>Prompt</a:t>
            </a:r>
            <a:r>
              <a:rPr lang="zh-CN" altLang="en-US" dirty="0">
                <a:sym typeface="+mn-ea"/>
              </a:rPr>
              <a:t>编写，文档与部署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黑客松只有 48 小时，</a:t>
            </a:r>
            <a:r>
              <a:rPr lang="en-US" altLang="zh-CN" dirty="0">
                <a:sym typeface="+mn-ea"/>
              </a:rPr>
              <a:t>AI </a:t>
            </a:r>
            <a:r>
              <a:rPr lang="zh-CN" altLang="en-US" dirty="0">
                <a:sym typeface="+mn-ea"/>
              </a:rPr>
              <a:t>写代码速度很快，但风险也很集中：读错需求、改错保护文件、为了测试绿绕过断言、编造 </a:t>
            </a:r>
            <a:r>
              <a:rPr lang="en-US" altLang="zh-CN" dirty="0">
                <a:sym typeface="+mn-ea"/>
              </a:rPr>
              <a:t>fixture、prompt </a:t>
            </a:r>
            <a:r>
              <a:rPr lang="zh-CN" altLang="en-US" dirty="0">
                <a:sym typeface="+mn-ea"/>
              </a:rPr>
              <a:t>行为没回归、多人并发时上下文污染。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所以我们的目标不是“让 </a:t>
            </a:r>
            <a:r>
              <a:rPr lang="en-US" altLang="zh-CN" dirty="0">
                <a:sym typeface="+mn-ea"/>
              </a:rPr>
              <a:t>AI </a:t>
            </a:r>
            <a:r>
              <a:rPr lang="zh-CN" altLang="en-US" dirty="0">
                <a:sym typeface="+mn-ea"/>
              </a:rPr>
              <a:t>更听话”，而是做一个编码过程的外骨骼：</a:t>
            </a:r>
            <a:r>
              <a:rPr lang="en-US" altLang="zh-CN" dirty="0">
                <a:sym typeface="+mn-ea"/>
              </a:rPr>
              <a:t>AI </a:t>
            </a:r>
            <a:r>
              <a:rPr lang="zh-CN" altLang="en-US" dirty="0">
                <a:sym typeface="+mn-ea"/>
              </a:rPr>
              <a:t>每一步都走标准入口，关键约束由机器检查。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第 9 页｜</a:t>
            </a:r>
            <a:r>
              <a:rPr lang="en-US" altLang="zh-CN" dirty="0">
                <a:sym typeface="+mn-ea"/>
              </a:rPr>
              <a:t>Coding Harness，</a:t>
            </a:r>
            <a:r>
              <a:rPr lang="zh-CN" altLang="en-US" dirty="0">
                <a:sym typeface="+mn-ea"/>
              </a:rPr>
              <a:t>约 55 秒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这次黑客松我们还有一个很特别的实践：我们不仅做了产品里的 </a:t>
            </a:r>
            <a:r>
              <a:rPr lang="en-US" altLang="zh-CN" dirty="0">
                <a:sym typeface="+mn-ea"/>
              </a:rPr>
              <a:t>AI，</a:t>
            </a:r>
            <a:r>
              <a:rPr lang="zh-CN" altLang="en-US" dirty="0">
                <a:sym typeface="+mn-ea"/>
              </a:rPr>
              <a:t>也用 </a:t>
            </a:r>
            <a:r>
              <a:rPr lang="en-US" altLang="zh-CN" dirty="0">
                <a:sym typeface="+mn-ea"/>
              </a:rPr>
              <a:t>AI </a:t>
            </a:r>
            <a:r>
              <a:rPr lang="zh-CN" altLang="en-US" dirty="0">
                <a:sym typeface="+mn-ea"/>
              </a:rPr>
              <a:t>深度参与开发。但 </a:t>
            </a:r>
            <a:r>
              <a:rPr lang="en-US" altLang="zh-CN" dirty="0">
                <a:sym typeface="+mn-ea"/>
              </a:rPr>
              <a:t>AI </a:t>
            </a:r>
            <a:r>
              <a:rPr lang="zh-CN" altLang="en-US" dirty="0">
                <a:sym typeface="+mn-ea"/>
              </a:rPr>
              <a:t>写代码快，风险也集中，比如读错需求、改错文件、为了测试通过绕过断言。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所以我们做了 </a:t>
            </a:r>
            <a:r>
              <a:rPr lang="en-US" altLang="zh-CN" dirty="0">
                <a:sym typeface="+mn-ea"/>
              </a:rPr>
              <a:t>hx cli，</a:t>
            </a:r>
            <a:r>
              <a:rPr lang="zh-CN" altLang="en-US" dirty="0">
                <a:sym typeface="+mn-ea"/>
              </a:rPr>
              <a:t>作为 </a:t>
            </a:r>
            <a:r>
              <a:rPr lang="en-US" altLang="zh-CN" dirty="0">
                <a:sym typeface="+mn-ea"/>
              </a:rPr>
              <a:t>coding harness。</a:t>
            </a:r>
            <a:r>
              <a:rPr lang="zh-CN" altLang="en-US" dirty="0">
                <a:sym typeface="+mn-ea"/>
              </a:rPr>
              <a:t>开发必须从 </a:t>
            </a:r>
            <a:r>
              <a:rPr lang="en-US" altLang="zh-CN" dirty="0">
                <a:sym typeface="+mn-ea"/>
              </a:rPr>
              <a:t>hx go </a:t>
            </a:r>
            <a:r>
              <a:rPr lang="zh-CN" altLang="en-US" dirty="0">
                <a:sym typeface="+mn-ea"/>
              </a:rPr>
              <a:t>开始，领取任务卡；用 </a:t>
            </a:r>
            <a:r>
              <a:rPr lang="en-US" altLang="zh-CN" dirty="0">
                <a:sym typeface="+mn-ea"/>
              </a:rPr>
              <a:t>hx spec </a:t>
            </a:r>
            <a:r>
              <a:rPr lang="zh-CN" altLang="en-US" dirty="0">
                <a:sym typeface="+mn-ea"/>
              </a:rPr>
              <a:t>查对应需求；完成后跑 </a:t>
            </a:r>
            <a:r>
              <a:rPr lang="en-US" altLang="zh-CN" dirty="0">
                <a:sym typeface="+mn-ea"/>
              </a:rPr>
              <a:t>hx check；</a:t>
            </a:r>
            <a:r>
              <a:rPr lang="zh-CN" altLang="en-US" dirty="0">
                <a:sym typeface="+mn-ea"/>
              </a:rPr>
              <a:t>改 </a:t>
            </a:r>
            <a:r>
              <a:rPr lang="en-US" altLang="zh-CN" dirty="0">
                <a:sym typeface="+mn-ea"/>
              </a:rPr>
              <a:t>prompt </a:t>
            </a:r>
            <a:r>
              <a:rPr lang="zh-CN" altLang="en-US" dirty="0">
                <a:sym typeface="+mn-ea"/>
              </a:rPr>
              <a:t>必须跑 </a:t>
            </a:r>
            <a:r>
              <a:rPr lang="en-US" altLang="zh-CN" dirty="0">
                <a:sym typeface="+mn-ea"/>
              </a:rPr>
              <a:t>hx eval；</a:t>
            </a:r>
            <a:r>
              <a:rPr lang="zh-CN" altLang="en-US" dirty="0">
                <a:sym typeface="+mn-ea"/>
              </a:rPr>
              <a:t>最后用 </a:t>
            </a:r>
            <a:r>
              <a:rPr lang="en-US" altLang="zh-CN" dirty="0">
                <a:sym typeface="+mn-ea"/>
              </a:rPr>
              <a:t>hx task done </a:t>
            </a:r>
            <a:r>
              <a:rPr lang="zh-CN" altLang="en-US" dirty="0">
                <a:sym typeface="+mn-ea"/>
              </a:rPr>
              <a:t>生成 </a:t>
            </a:r>
            <a:r>
              <a:rPr lang="en-US" altLang="zh-CN" dirty="0">
                <a:sym typeface="+mn-ea"/>
              </a:rPr>
              <a:t>DoD </a:t>
            </a:r>
            <a:r>
              <a:rPr lang="zh-CN" altLang="en-US" dirty="0">
                <a:sym typeface="+mn-ea"/>
              </a:rPr>
              <a:t>报告并提交。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核心思想是：不是让模型更听话，而是让流程不依赖模型听话。</a:t>
            </a:r>
            <a:endParaRPr lang="zh-CN" altLang="en-US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 10 页｜</a:t>
            </a:r>
            <a:r>
              <a:rPr lang="en-US" altLang="zh-CN"/>
              <a:t>Runtime Harness Gates，</a:t>
            </a:r>
            <a:r>
              <a:rPr lang="zh-CN" altLang="en-US"/>
              <a:t>约 65 秒</a:t>
            </a:r>
            <a:endParaRPr lang="zh-CN" altLang="en-US"/>
          </a:p>
          <a:p>
            <a:r>
              <a:rPr lang="zh-CN" altLang="en-US"/>
              <a:t>产品运行时也一样，我们给 </a:t>
            </a:r>
            <a:r>
              <a:rPr lang="en-US" altLang="zh-CN"/>
              <a:t>LLM </a:t>
            </a:r>
            <a:r>
              <a:rPr lang="zh-CN" altLang="en-US"/>
              <a:t>的关键动作都加了“门”。</a:t>
            </a:r>
            <a:endParaRPr lang="zh-CN" altLang="en-US"/>
          </a:p>
          <a:p>
            <a:r>
              <a:rPr lang="zh-CN" altLang="en-US"/>
              <a:t>它想开始任务，要过 </a:t>
            </a:r>
            <a:r>
              <a:rPr lang="en-US" altLang="zh-CN"/>
              <a:t>Task Gate，</a:t>
            </a:r>
            <a:r>
              <a:rPr lang="zh-CN" altLang="en-US"/>
              <a:t>系统会建任务目录、记录状态。它想调工具继续排查，要过 </a:t>
            </a:r>
            <a:r>
              <a:rPr lang="en-US" altLang="zh-CN"/>
              <a:t>Tool Gate，</a:t>
            </a:r>
            <a:r>
              <a:rPr lang="zh-CN" altLang="en-US"/>
              <a:t>必须说明假设和证据缺口，而且有额度限制。它想引用证据写 </a:t>
            </a:r>
            <a:r>
              <a:rPr lang="en-US" altLang="zh-CN"/>
              <a:t>root cause，</a:t>
            </a:r>
            <a:r>
              <a:rPr lang="zh-CN" altLang="en-US"/>
              <a:t>要过 </a:t>
            </a:r>
            <a:r>
              <a:rPr lang="en-US" altLang="zh-CN"/>
              <a:t>Evidence Gate，</a:t>
            </a:r>
            <a:r>
              <a:rPr lang="zh-CN" altLang="en-US"/>
              <a:t>只有进过证据池的内容才能引用。它想发布报告，要先过 </a:t>
            </a:r>
            <a:r>
              <a:rPr lang="en-US" altLang="zh-CN"/>
              <a:t>Schema </a:t>
            </a:r>
            <a:r>
              <a:rPr lang="zh-CN" altLang="en-US"/>
              <a:t>和 </a:t>
            </a:r>
            <a:r>
              <a:rPr lang="en-US" altLang="zh-CN"/>
              <a:t>Audit Gate，</a:t>
            </a:r>
            <a:r>
              <a:rPr lang="zh-CN" altLang="en-US"/>
              <a:t>结构正确、审计完整，才能交付给用户。</a:t>
            </a:r>
            <a:endParaRPr lang="zh-CN" altLang="en-US"/>
          </a:p>
          <a:p>
            <a:r>
              <a:rPr lang="zh-CN" altLang="en-US"/>
              <a:t>这套机制让 </a:t>
            </a:r>
            <a:r>
              <a:rPr lang="en-US" altLang="zh-CN"/>
              <a:t>Diggy </a:t>
            </a:r>
            <a:r>
              <a:rPr lang="zh-CN" altLang="en-US"/>
              <a:t>不是一个“随便聊天的 </a:t>
            </a:r>
            <a:r>
              <a:rPr lang="en-US" altLang="zh-CN"/>
              <a:t>AI”，</a:t>
            </a:r>
            <a:r>
              <a:rPr lang="zh-CN" altLang="en-US"/>
              <a:t>而是一个在规则里工作的 </a:t>
            </a:r>
            <a:r>
              <a:rPr lang="en-US" altLang="zh-CN"/>
              <a:t>AI。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说再多，不如亲眼一见。接下来，我们将现场演示Diggy的核心功能。首先是M1时间窗报告，我们会在Slack里输入一个简单的命令，获取一份结构化的健康报告。然后是M2锚点诊断，我们会给它一个日志链接，看它如何像专家一样进行逐轮取证，并生成一份详尽的诊断报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直接在团队日常沟通的 Slack 环境中集成 Diggy 能力，无需切换工具。无论是获取周期性报告，还是进行即时故障诊断，都能在对话流中快速完成，提升协作效率。</a:t>
            </a:r>
            <a:endParaRPr lang="en-US"/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次黑客松，我们交付的不仅仅是一个概念，而是一条完整的、可运行的MVP闭环。这包括了两个核心能力的实现、与真实数据源和Slack的集成、可信的输出机制，以及最重要的——我们成功地将传统的日志总结模式，升级为了更智能的假设驱动诊断循环模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 12 页｜交付成果，约 60 秒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这次我们交付的不是概念图，而是一条可以继续迭代的闭环。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产品上，我们完成了两条核心链路：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M1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日报和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M2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诊断。工程上，有 8 个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Prompt、5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个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Tools、5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个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Contract。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测试方面，我们有 515 个自动化测试用例，包括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unit test、contract test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和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hx test。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协作上，拆了 59 张任务卡，完成了 162 次提交和 61 份报告。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最有代表性的是最后这个结论：我们不是只做了一个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Demo，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而是搭出了一个可以持续生长的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Agent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工程体系。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 13 页｜路线图，约 55 秒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Diggy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的核心价值，我们总结成三个词：快、准、不越位。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快，是缩短从发现问题到初步分析的时间。准，是基于真实数据和可追溯证据，而不是模糊猜测。不越位，是它始终做分析者和建议者，不替人拍板。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现在我们聚焦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M1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和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M2，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把日志报告和锚点诊断做扎实。下一步会接入更多数据源和更多协作入口，并加入记忆能力，让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Diggy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能沉淀历史经验。长期看，我们希望它从日志诊断开始，进化成真正的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DevOps AI Agent。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 14 页｜问题与解决，约 70 秒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黑客松期间我们也踩了不少坑。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第一个是方案不断变化。后来我们意识到，不是想法不够，而是边界要收敛，所以最终锁定两个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MVP：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日报和锚点诊断。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第二个是多人、多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Agent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并行，很容易改重、改偏。我们用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task card、owner、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保护路径和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DoD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来收敛协作边界。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第三个是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harness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的设计。我们发现光靠提示词约束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不够，关键规则必须由代码检查。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第四个是各种预期外情况，比如任务依赖、报告异常、绕过风险。我们的处理方式是每修一个问题，就补一层测试，让它成为可回归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case。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 15 页｜收尾，约 30 秒</a:t>
            </a:r>
            <a:endParaRPr lang="zh-CN" altLang="en-US" dirty="0"/>
          </a:p>
          <a:p>
            <a:r>
              <a:rPr lang="zh-CN" altLang="en-US" dirty="0"/>
              <a:t>最后总结一下。</a:t>
            </a:r>
            <a:r>
              <a:rPr lang="en-US" altLang="zh-CN" dirty="0"/>
              <a:t>Diggy </a:t>
            </a:r>
            <a:r>
              <a:rPr lang="zh-CN" altLang="en-US" dirty="0"/>
              <a:t>想做的不是替代工程师，而是把工程师最耗时的第一轮排查变快、变清楚、变可信。</a:t>
            </a:r>
            <a:endParaRPr lang="zh-CN" altLang="en-US" dirty="0"/>
          </a:p>
          <a:p>
            <a:r>
              <a:rPr lang="zh-CN" altLang="en-US" dirty="0"/>
              <a:t>它会主动挖证据，但不越位做决定；它会生成结论，但结论必须有出处；它会用 </a:t>
            </a:r>
            <a:r>
              <a:rPr lang="en-US" altLang="zh-CN" dirty="0"/>
              <a:t>AI </a:t>
            </a:r>
            <a:r>
              <a:rPr lang="zh-CN" altLang="en-US" dirty="0"/>
              <a:t>提升效率，也用 </a:t>
            </a:r>
            <a:r>
              <a:rPr lang="en-US" altLang="zh-CN" dirty="0"/>
              <a:t>harness </a:t>
            </a:r>
            <a:r>
              <a:rPr lang="zh-CN" altLang="en-US" dirty="0"/>
              <a:t>控制 </a:t>
            </a:r>
            <a:r>
              <a:rPr lang="en-US" altLang="zh-CN" dirty="0"/>
              <a:t>AI </a:t>
            </a:r>
            <a:r>
              <a:rPr lang="zh-CN" altLang="en-US" dirty="0"/>
              <a:t>的风险。</a:t>
            </a:r>
            <a:endParaRPr lang="zh-CN" altLang="en-US" dirty="0"/>
          </a:p>
          <a:p>
            <a:r>
              <a:rPr lang="zh-CN" altLang="en-US" dirty="0"/>
              <a:t>这就是我们的 </a:t>
            </a:r>
            <a:r>
              <a:rPr lang="en-US" altLang="zh-CN" dirty="0"/>
              <a:t>Diggy </a:t>
            </a:r>
            <a:r>
              <a:rPr lang="zh-CN" altLang="en-US" dirty="0"/>
              <a:t>挖挖。谢谢大家，欢迎提问。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2" Type="http://schemas.openxmlformats.org/officeDocument/2006/relationships/notesSlide" Target="../notesSlides/notesSlide2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2" Type="http://schemas.openxmlformats.org/officeDocument/2006/relationships/notesSlide" Target="../notesSlides/notesSlide3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50.xml"/><Relationship Id="rId2" Type="http://schemas.openxmlformats.org/officeDocument/2006/relationships/tags" Target="../tags/tag32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slide" Target="slide16.xml"/><Relationship Id="rId3" Type="http://schemas.openxmlformats.org/officeDocument/2006/relationships/tags" Target="../tags/tag53.xml"/><Relationship Id="rId21" Type="http://schemas.openxmlformats.org/officeDocument/2006/relationships/notesSlide" Target="../notesSlides/notesSlide9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52.xml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tags" Target="../tags/tag5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" Type="http://schemas.openxmlformats.org/officeDocument/2006/relationships/tags" Target="../tags/tag6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image" Target="../media/image5.svg"/><Relationship Id="rId35" Type="http://schemas.openxmlformats.org/officeDocument/2006/relationships/notesSlide" Target="../notesSlides/notesSlide13.xml"/><Relationship Id="rId34" Type="http://schemas.openxmlformats.org/officeDocument/2006/relationships/slideLayout" Target="../slideLayouts/slideLayout2.xml"/><Relationship Id="rId33" Type="http://schemas.openxmlformats.org/officeDocument/2006/relationships/tags" Target="../tags/tag104.xml"/><Relationship Id="rId32" Type="http://schemas.openxmlformats.org/officeDocument/2006/relationships/tags" Target="../tags/tag103.xml"/><Relationship Id="rId31" Type="http://schemas.openxmlformats.org/officeDocument/2006/relationships/tags" Target="../tags/tag102.xml"/><Relationship Id="rId30" Type="http://schemas.openxmlformats.org/officeDocument/2006/relationships/tags" Target="../tags/tag101.xml"/><Relationship Id="rId3" Type="http://schemas.openxmlformats.org/officeDocument/2006/relationships/image" Target="../media/image4.png"/><Relationship Id="rId29" Type="http://schemas.openxmlformats.org/officeDocument/2006/relationships/tags" Target="../tags/tag100.xml"/><Relationship Id="rId28" Type="http://schemas.openxmlformats.org/officeDocument/2006/relationships/tags" Target="../tags/tag99.xml"/><Relationship Id="rId27" Type="http://schemas.openxmlformats.org/officeDocument/2006/relationships/tags" Target="../tags/tag98.xml"/><Relationship Id="rId26" Type="http://schemas.openxmlformats.org/officeDocument/2006/relationships/tags" Target="../tags/tag97.xml"/><Relationship Id="rId25" Type="http://schemas.openxmlformats.org/officeDocument/2006/relationships/tags" Target="../tags/tag96.xml"/><Relationship Id="rId24" Type="http://schemas.openxmlformats.org/officeDocument/2006/relationships/tags" Target="../tags/tag95.xml"/><Relationship Id="rId23" Type="http://schemas.openxmlformats.org/officeDocument/2006/relationships/tags" Target="../tags/tag94.xml"/><Relationship Id="rId22" Type="http://schemas.openxmlformats.org/officeDocument/2006/relationships/tags" Target="../tags/tag93.xml"/><Relationship Id="rId21" Type="http://schemas.openxmlformats.org/officeDocument/2006/relationships/tags" Target="../tags/tag92.xml"/><Relationship Id="rId20" Type="http://schemas.openxmlformats.org/officeDocument/2006/relationships/tags" Target="../tags/tag91.xml"/><Relationship Id="rId2" Type="http://schemas.openxmlformats.org/officeDocument/2006/relationships/tags" Target="../tags/tag79.xml"/><Relationship Id="rId19" Type="http://schemas.openxmlformats.org/officeDocument/2006/relationships/tags" Target="../tags/tag90.xml"/><Relationship Id="rId18" Type="http://schemas.openxmlformats.org/officeDocument/2006/relationships/image" Target="../media/image9.svg"/><Relationship Id="rId17" Type="http://schemas.openxmlformats.org/officeDocument/2006/relationships/image" Target="../media/image8.png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tags" Target="../tags/tag7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4" Type="http://schemas.openxmlformats.org/officeDocument/2006/relationships/notesSlide" Target="../notesSlides/notesSlide14.xml"/><Relationship Id="rId33" Type="http://schemas.openxmlformats.org/officeDocument/2006/relationships/slideLayout" Target="../slideLayouts/slideLayout4.xml"/><Relationship Id="rId32" Type="http://schemas.openxmlformats.org/officeDocument/2006/relationships/tags" Target="../tags/tag128.xml"/><Relationship Id="rId31" Type="http://schemas.openxmlformats.org/officeDocument/2006/relationships/tags" Target="../tags/tag127.xml"/><Relationship Id="rId30" Type="http://schemas.openxmlformats.org/officeDocument/2006/relationships/tags" Target="../tags/tag126.xml"/><Relationship Id="rId3" Type="http://schemas.openxmlformats.org/officeDocument/2006/relationships/tags" Target="../tags/tag107.xml"/><Relationship Id="rId29" Type="http://schemas.openxmlformats.org/officeDocument/2006/relationships/tags" Target="../tags/tag125.xml"/><Relationship Id="rId28" Type="http://schemas.openxmlformats.org/officeDocument/2006/relationships/tags" Target="../tags/tag124.xml"/><Relationship Id="rId27" Type="http://schemas.openxmlformats.org/officeDocument/2006/relationships/tags" Target="../tags/tag123.xml"/><Relationship Id="rId26" Type="http://schemas.openxmlformats.org/officeDocument/2006/relationships/image" Target="../media/image17.svg"/><Relationship Id="rId25" Type="http://schemas.openxmlformats.org/officeDocument/2006/relationships/image" Target="../media/image16.png"/><Relationship Id="rId24" Type="http://schemas.openxmlformats.org/officeDocument/2006/relationships/tags" Target="../tags/tag122.xml"/><Relationship Id="rId23" Type="http://schemas.openxmlformats.org/officeDocument/2006/relationships/tags" Target="../tags/tag121.xml"/><Relationship Id="rId22" Type="http://schemas.openxmlformats.org/officeDocument/2006/relationships/tags" Target="../tags/tag120.xml"/><Relationship Id="rId21" Type="http://schemas.openxmlformats.org/officeDocument/2006/relationships/tags" Target="../tags/tag119.xml"/><Relationship Id="rId20" Type="http://schemas.openxmlformats.org/officeDocument/2006/relationships/tags" Target="../tags/tag118.xml"/><Relationship Id="rId2" Type="http://schemas.openxmlformats.org/officeDocument/2006/relationships/tags" Target="../tags/tag106.xml"/><Relationship Id="rId19" Type="http://schemas.openxmlformats.org/officeDocument/2006/relationships/image" Target="../media/image15.svg"/><Relationship Id="rId18" Type="http://schemas.openxmlformats.org/officeDocument/2006/relationships/image" Target="../media/image14.png"/><Relationship Id="rId17" Type="http://schemas.openxmlformats.org/officeDocument/2006/relationships/tags" Target="../tags/tag117.xml"/><Relationship Id="rId16" Type="http://schemas.openxmlformats.org/officeDocument/2006/relationships/tags" Target="../tags/tag116.xml"/><Relationship Id="rId15" Type="http://schemas.openxmlformats.org/officeDocument/2006/relationships/tags" Target="../tags/tag115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tags" Target="../tags/tag112.xml"/><Relationship Id="rId1" Type="http://schemas.openxmlformats.org/officeDocument/2006/relationships/tags" Target="../tags/tag10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914400"/>
            <a:ext cx="1463040" cy="29260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 2026 HACKATHON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Diggy挖挖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可进化的 DevOps AI Agent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</a:t>
            </a:r>
            <a:r>
              <a:rPr lang="zh-CN" alt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</a:t>
            </a:r>
            <a:r>
              <a:rPr 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工程师查日志</a:t>
            </a:r>
            <a:r>
              <a:rPr lang="zh-CN" alt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看指标</a:t>
            </a:r>
            <a:r>
              <a:rPr lang="zh-CN" alt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定位问题的能力</a:t>
            </a:r>
            <a:r>
              <a:rPr lang="zh-CN" alt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变成人人可用</a:t>
            </a:r>
            <a:r>
              <a:rPr lang="zh-CN" alt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随叫随到</a:t>
            </a:r>
            <a:r>
              <a:rPr lang="zh-CN" alt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结论可验证的服务</a:t>
            </a:r>
            <a:r>
              <a:rPr lang="zh-CN" altLang="en-US" sz="15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500" dirty="0">
              <a:solidFill>
                <a:srgbClr val="8B7E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8046720" cy="0"/>
          </a:xfrm>
          <a:prstGeom prst="line">
            <a:avLst/>
          </a:prstGeom>
          <a:noFill/>
          <a:ln w="9525">
            <a:solidFill>
              <a:srgbClr val="F5E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526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7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Miller  /  Simon  /  Brooker - </a:t>
            </a:r>
            <a:r>
              <a:rPr lang="zh-CN" altLang="en-US" sz="1100" b="1" dirty="0">
                <a:solidFill>
                  <a:srgbClr val="8B7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打出</a:t>
            </a:r>
            <a:r>
              <a:rPr lang="zh-CN" altLang="en-US" sz="1100" b="1" dirty="0">
                <a:solidFill>
                  <a:srgbClr val="8B7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风采</a:t>
            </a:r>
            <a:endParaRPr lang="zh-CN" altLang="en-US" sz="1100" b="1" dirty="0">
              <a:solidFill>
                <a:srgbClr val="8B7E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15" name="图片 14" descr="diggy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6760" y="43815"/>
            <a:ext cx="3528060" cy="3528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  /  目录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接下来 10 分钟, 我们要讲什么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457200" cy="4572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2743200" cy="31089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219456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 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00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4114800"/>
            <a:ext cx="457200" cy="0"/>
          </a:xfrm>
          <a:prstGeom prst="line">
            <a:avLst/>
          </a:prstGeom>
          <a:noFill/>
          <a:ln w="1524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605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1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全方面展示</a:t>
            </a:r>
            <a:r>
              <a:rPr lang="en-US" altLang="zh-CN" sz="11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</a:t>
            </a:r>
            <a:r>
              <a:rPr lang="zh-CN" altLang="en-US" sz="11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能力以及</a:t>
            </a:r>
            <a:r>
              <a:rPr lang="zh-CN" altLang="en-US" sz="11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完成度</a:t>
            </a:r>
            <a:endParaRPr lang="zh-CN" altLang="en-US" sz="1100" dirty="0">
              <a:solidFill>
                <a:srgbClr val="8B7E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1"/>
            </p:custDataLst>
          </p:nvPr>
        </p:nvSpPr>
        <p:spPr>
          <a:xfrm>
            <a:off x="3657600" y="1371600"/>
            <a:ext cx="4846320" cy="640080"/>
          </a:xfrm>
          <a:prstGeom prst="rect">
            <a:avLst/>
          </a:prstGeom>
          <a:solidFill>
            <a:srgbClr val="FFF1E6"/>
          </a:solidFill>
          <a:ln w="6350">
            <a:solidFill>
              <a:srgbClr val="F5E0D0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2"/>
            </p:custDataLst>
          </p:nvPr>
        </p:nvSpPr>
        <p:spPr>
          <a:xfrm>
            <a:off x="3657600" y="1371600"/>
            <a:ext cx="731520" cy="64008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3"/>
            </p:custDataLst>
          </p:nvPr>
        </p:nvSpPr>
        <p:spPr>
          <a:xfrm>
            <a:off x="4023360" y="1371600"/>
            <a:ext cx="365760" cy="64008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4"/>
            </p:custDataLst>
          </p:nvPr>
        </p:nvSpPr>
        <p:spPr>
          <a:xfrm>
            <a:off x="3657600" y="137160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Text 13"/>
          <p:cNvSpPr/>
          <p:nvPr>
            <p:custDataLst>
              <p:tags r:id="rId5"/>
            </p:custDataLst>
          </p:nvPr>
        </p:nvSpPr>
        <p:spPr>
          <a:xfrm>
            <a:off x="4572000" y="14447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</a:t>
            </a: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与痛点</a:t>
            </a:r>
            <a:endParaRPr lang="en-US" sz="1600" dirty="0"/>
          </a:p>
        </p:txBody>
      </p:sp>
      <p:sp>
        <p:nvSpPr>
          <p:cNvPr id="16" name="Text 14"/>
          <p:cNvSpPr/>
          <p:nvPr>
            <p:custDataLst>
              <p:tags r:id="rId6"/>
            </p:custDataLst>
          </p:nvPr>
        </p:nvSpPr>
        <p:spPr>
          <a:xfrm>
            <a:off x="4572000" y="171907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打通数据和研发的最后一公里</a:t>
            </a:r>
            <a:endParaRPr lang="zh-CN" altLang="en-US" sz="1100" dirty="0">
              <a:solidFill>
                <a:srgbClr val="6B5B4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89520" y="1371600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18" name="Shape 16"/>
          <p:cNvSpPr/>
          <p:nvPr>
            <p:custDataLst>
              <p:tags r:id="rId7"/>
            </p:custDataLst>
          </p:nvPr>
        </p:nvSpPr>
        <p:spPr>
          <a:xfrm>
            <a:off x="3657600" y="2057400"/>
            <a:ext cx="4846320" cy="640080"/>
          </a:xfrm>
          <a:prstGeom prst="rect">
            <a:avLst/>
          </a:prstGeom>
          <a:solidFill>
            <a:srgbClr val="FFF1E6"/>
          </a:solidFill>
          <a:ln w="6350">
            <a:solidFill>
              <a:srgbClr val="F5E0D0"/>
            </a:solidFill>
            <a:prstDash val="solid"/>
          </a:ln>
        </p:spPr>
      </p:sp>
      <p:sp>
        <p:nvSpPr>
          <p:cNvPr id="19" name="Shape 17"/>
          <p:cNvSpPr/>
          <p:nvPr>
            <p:custDataLst>
              <p:tags r:id="rId8"/>
            </p:custDataLst>
          </p:nvPr>
        </p:nvSpPr>
        <p:spPr>
          <a:xfrm>
            <a:off x="3657600" y="2057400"/>
            <a:ext cx="731520" cy="64008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9"/>
            </p:custDataLst>
          </p:nvPr>
        </p:nvSpPr>
        <p:spPr>
          <a:xfrm>
            <a:off x="4023360" y="2057400"/>
            <a:ext cx="365760" cy="64008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0"/>
            </p:custDataLst>
          </p:nvPr>
        </p:nvSpPr>
        <p:spPr>
          <a:xfrm>
            <a:off x="3657600" y="205740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22" name="Text 20"/>
          <p:cNvSpPr/>
          <p:nvPr>
            <p:custDataLst>
              <p:tags r:id="rId11"/>
            </p:custDataLst>
          </p:nvPr>
        </p:nvSpPr>
        <p:spPr>
          <a:xfrm>
            <a:off x="4572000" y="21305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架构与</a:t>
            </a:r>
            <a:r>
              <a:rPr lang="zh-CN" alt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</a:t>
            </a:r>
            <a:endParaRPr lang="zh-CN" alt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12"/>
            </p:custDataLst>
          </p:nvPr>
        </p:nvSpPr>
        <p:spPr>
          <a:xfrm>
            <a:off x="4572000" y="240487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M1 + M2 两大能力  /  逐轮取证</a:t>
            </a:r>
            <a:r>
              <a:rPr lang="zh-CN" alt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</a:t>
            </a: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0" y="2057400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25" name="Shape 23"/>
          <p:cNvSpPr/>
          <p:nvPr>
            <p:custDataLst>
              <p:tags r:id="rId13"/>
            </p:custDataLst>
          </p:nvPr>
        </p:nvSpPr>
        <p:spPr>
          <a:xfrm>
            <a:off x="3657600" y="2743200"/>
            <a:ext cx="4846320" cy="640080"/>
          </a:xfrm>
          <a:prstGeom prst="rect">
            <a:avLst/>
          </a:prstGeom>
          <a:solidFill>
            <a:srgbClr val="FFF1E6"/>
          </a:solidFill>
          <a:ln w="6350">
            <a:solidFill>
              <a:srgbClr val="F5E0D0"/>
            </a:solidFill>
            <a:prstDash val="solid"/>
          </a:ln>
        </p:spPr>
      </p:sp>
      <p:sp>
        <p:nvSpPr>
          <p:cNvPr id="26" name="Shape 24"/>
          <p:cNvSpPr/>
          <p:nvPr>
            <p:custDataLst>
              <p:tags r:id="rId14"/>
            </p:custDataLst>
          </p:nvPr>
        </p:nvSpPr>
        <p:spPr>
          <a:xfrm>
            <a:off x="3657600" y="2743200"/>
            <a:ext cx="731520" cy="64008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15"/>
            </p:custDataLst>
          </p:nvPr>
        </p:nvSpPr>
        <p:spPr>
          <a:xfrm>
            <a:off x="4023360" y="2743200"/>
            <a:ext cx="365760" cy="64008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16"/>
            </p:custDataLst>
          </p:nvPr>
        </p:nvSpPr>
        <p:spPr>
          <a:xfrm>
            <a:off x="3657600" y="274320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29" name="Text 27"/>
          <p:cNvSpPr/>
          <p:nvPr>
            <p:custDataLst>
              <p:tags r:id="rId17"/>
            </p:custDataLst>
          </p:nvPr>
        </p:nvSpPr>
        <p:spPr>
          <a:xfrm>
            <a:off x="4572000" y="2816225"/>
            <a:ext cx="36499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Runtime harness &amp; coding </a:t>
            </a: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harness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Text 28"/>
          <p:cNvSpPr/>
          <p:nvPr>
            <p:custDataLst>
              <p:tags r:id="rId18"/>
            </p:custDataLst>
          </p:nvPr>
        </p:nvSpPr>
        <p:spPr>
          <a:xfrm>
            <a:off x="4572000" y="309067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产品内 AI 决策  /  开发全链路 + 验证机制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9520" y="2743200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32" name="Shape 30"/>
          <p:cNvSpPr/>
          <p:nvPr>
            <p:custDataLst>
              <p:tags r:id="rId19"/>
            </p:custDataLst>
          </p:nvPr>
        </p:nvSpPr>
        <p:spPr>
          <a:xfrm>
            <a:off x="3657600" y="3429000"/>
            <a:ext cx="4846320" cy="640080"/>
          </a:xfrm>
          <a:prstGeom prst="rect">
            <a:avLst/>
          </a:prstGeom>
          <a:solidFill>
            <a:srgbClr val="FFF1E6"/>
          </a:solidFill>
          <a:ln w="6350">
            <a:solidFill>
              <a:srgbClr val="F5E0D0"/>
            </a:solidFill>
            <a:prstDash val="solid"/>
          </a:ln>
        </p:spPr>
      </p:sp>
      <p:sp>
        <p:nvSpPr>
          <p:cNvPr id="33" name="Shape 31"/>
          <p:cNvSpPr/>
          <p:nvPr>
            <p:custDataLst>
              <p:tags r:id="rId20"/>
            </p:custDataLst>
          </p:nvPr>
        </p:nvSpPr>
        <p:spPr>
          <a:xfrm>
            <a:off x="3657600" y="3429000"/>
            <a:ext cx="731520" cy="64008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34" name="Shape 32"/>
          <p:cNvSpPr/>
          <p:nvPr>
            <p:custDataLst>
              <p:tags r:id="rId21"/>
            </p:custDataLst>
          </p:nvPr>
        </p:nvSpPr>
        <p:spPr>
          <a:xfrm>
            <a:off x="4023360" y="3429000"/>
            <a:ext cx="365760" cy="64008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35" name="Text 33"/>
          <p:cNvSpPr/>
          <p:nvPr>
            <p:custDataLst>
              <p:tags r:id="rId22"/>
            </p:custDataLst>
          </p:nvPr>
        </p:nvSpPr>
        <p:spPr>
          <a:xfrm>
            <a:off x="3657600" y="342900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dirty="0"/>
          </a:p>
        </p:txBody>
      </p:sp>
      <p:sp>
        <p:nvSpPr>
          <p:cNvPr id="36" name="Text 34"/>
          <p:cNvSpPr/>
          <p:nvPr>
            <p:custDataLst>
              <p:tags r:id="rId23"/>
            </p:custDataLst>
          </p:nvPr>
        </p:nvSpPr>
        <p:spPr>
          <a:xfrm>
            <a:off x="4572000" y="35021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37" name="Text 35"/>
          <p:cNvSpPr/>
          <p:nvPr>
            <p:custDataLst>
              <p:tags r:id="rId24"/>
            </p:custDataLst>
          </p:nvPr>
        </p:nvSpPr>
        <p:spPr>
          <a:xfrm>
            <a:off x="4572000" y="377647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M1 报告  /  M2 锚点诊断 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3429000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39" name="Shape 37"/>
          <p:cNvSpPr/>
          <p:nvPr>
            <p:custDataLst>
              <p:tags r:id="rId25"/>
            </p:custDataLst>
          </p:nvPr>
        </p:nvSpPr>
        <p:spPr>
          <a:xfrm>
            <a:off x="3657600" y="4114800"/>
            <a:ext cx="4846320" cy="640080"/>
          </a:xfrm>
          <a:prstGeom prst="rect">
            <a:avLst/>
          </a:prstGeom>
          <a:solidFill>
            <a:srgbClr val="FFF1E6"/>
          </a:solidFill>
          <a:ln w="6350">
            <a:solidFill>
              <a:srgbClr val="F5E0D0"/>
            </a:solidFill>
            <a:prstDash val="solid"/>
          </a:ln>
        </p:spPr>
      </p:sp>
      <p:sp>
        <p:nvSpPr>
          <p:cNvPr id="40" name="Shape 38"/>
          <p:cNvSpPr/>
          <p:nvPr>
            <p:custDataLst>
              <p:tags r:id="rId26"/>
            </p:custDataLst>
          </p:nvPr>
        </p:nvSpPr>
        <p:spPr>
          <a:xfrm>
            <a:off x="3657600" y="4114800"/>
            <a:ext cx="731520" cy="64008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41" name="Shape 39"/>
          <p:cNvSpPr/>
          <p:nvPr>
            <p:custDataLst>
              <p:tags r:id="rId27"/>
            </p:custDataLst>
          </p:nvPr>
        </p:nvSpPr>
        <p:spPr>
          <a:xfrm>
            <a:off x="4023360" y="4114800"/>
            <a:ext cx="365760" cy="64008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42" name="Text 40"/>
          <p:cNvSpPr/>
          <p:nvPr>
            <p:custDataLst>
              <p:tags r:id="rId28"/>
            </p:custDataLst>
          </p:nvPr>
        </p:nvSpPr>
        <p:spPr>
          <a:xfrm>
            <a:off x="3657600" y="411480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200" dirty="0"/>
          </a:p>
        </p:txBody>
      </p:sp>
      <p:sp>
        <p:nvSpPr>
          <p:cNvPr id="43" name="Text 41"/>
          <p:cNvSpPr/>
          <p:nvPr>
            <p:custDataLst>
              <p:tags r:id="rId29"/>
            </p:custDataLst>
          </p:nvPr>
        </p:nvSpPr>
        <p:spPr>
          <a:xfrm>
            <a:off x="4572000" y="41879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</a:t>
            </a:r>
            <a:r>
              <a:rPr lang="zh-CN" alt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</a:t>
            </a:r>
            <a:r>
              <a:rPr lang="zh-CN" alt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展望</a:t>
            </a:r>
            <a:endParaRPr lang="zh-CN" alt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4" name="Text 42"/>
          <p:cNvSpPr/>
          <p:nvPr>
            <p:custDataLst>
              <p:tags r:id="rId30"/>
            </p:custDataLst>
          </p:nvPr>
        </p:nvSpPr>
        <p:spPr>
          <a:xfrm>
            <a:off x="4572000" y="446227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交付闭环  /  未来路线  /  </a:t>
            </a:r>
            <a:r>
              <a:rPr lang="zh-CN" alt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遇到的</a:t>
            </a:r>
            <a:r>
              <a:rPr lang="zh-CN" alt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</a:t>
            </a:r>
            <a:endParaRPr lang="zh-CN" altLang="en-US" sz="1100" dirty="0">
              <a:solidFill>
                <a:srgbClr val="6B5B4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589520" y="4114800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5780" y="3200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打通数据</a:t>
            </a:r>
            <a:r>
              <a:rPr lang="en-US" sz="3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和</a:t>
            </a:r>
            <a:r>
              <a:rPr lang="zh-CN" altLang="en-US" sz="3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研发</a:t>
            </a:r>
            <a:r>
              <a:rPr lang="en-US" sz="3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的</a:t>
            </a:r>
            <a:r>
              <a:rPr lang="zh-CN" altLang="en-US" sz="3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最后一公里</a:t>
            </a:r>
            <a:endParaRPr lang="zh-CN" altLang="en-US" sz="30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5780" y="914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痛点  /  THE REAL PAIN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25780" y="960120"/>
            <a:ext cx="457200" cy="4572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" y="4160520"/>
            <a:ext cx="8220710" cy="6858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" y="4160520"/>
            <a:ext cx="7498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我们不缺数据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和查询的技巧，</a:t>
            </a: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ES-Kibana-AKS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等基础设施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已经十分完善。</a:t>
            </a:r>
            <a:endParaRPr lang="zh-CN" altLang="en-US" sz="1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真正缺的是: 从数据到结论的自动化路径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card-bg"/>
          <p:cNvSpPr/>
          <p:nvPr>
            <p:custDataLst>
              <p:tags r:id="rId1"/>
            </p:custDataLst>
          </p:nvPr>
        </p:nvSpPr>
        <p:spPr>
          <a:xfrm>
            <a:off x="525780" y="1097280"/>
            <a:ext cx="4009644" cy="1394460"/>
          </a:xfrm>
          <a:prstGeom prst="rect">
            <a:avLst/>
          </a:prstGeom>
          <a:solidFill>
            <a:srgbClr val="FFF1E6"/>
          </a:solidFill>
          <a:ln w="9525">
            <a:solidFill>
              <a:srgbClr val="F5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-strip"/>
          <p:cNvSpPr/>
          <p:nvPr>
            <p:custDataLst>
              <p:tags r:id="rId2"/>
            </p:custDataLst>
          </p:nvPr>
        </p:nvSpPr>
        <p:spPr>
          <a:xfrm>
            <a:off x="525780" y="1097280"/>
            <a:ext cx="4009644" cy="73152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3"/>
            </p:custDataLst>
          </p:nvPr>
        </p:nvSpPr>
        <p:spPr>
          <a:xfrm>
            <a:off x="708660" y="1243584"/>
            <a:ext cx="3643884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5722"/>
                </a:solidFill>
                <a:latin typeface="Calibri" panose="020F0502020204030204"/>
              </a:rPr>
              <a:t>场景 01</a:t>
            </a:r>
            <a:endParaRPr sz="1100" b="1">
              <a:solidFill>
                <a:srgbClr val="FF5722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>
            <p:custDataLst>
              <p:tags r:id="rId4"/>
            </p:custDataLst>
          </p:nvPr>
        </p:nvSpPr>
        <p:spPr>
          <a:xfrm>
            <a:off x="708660" y="1481328"/>
            <a:ext cx="364388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>
                <a:solidFill>
                  <a:srgbClr val="1F2937"/>
                </a:solidFill>
                <a:latin typeface="微软雅黑" panose="020B0503020204020204" pitchFamily="34" charset="-122"/>
              </a:rPr>
              <a:t>开发的早晨</a:t>
            </a:r>
            <a:endParaRPr sz="2000" b="1">
              <a:solidFill>
                <a:srgbClr val="1F29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5"/>
            </p:custDataLst>
          </p:nvPr>
        </p:nvSpPr>
        <p:spPr>
          <a:xfrm>
            <a:off x="708660" y="1901952"/>
            <a:ext cx="3643884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想知道昨天服务稳不稳</a:t>
            </a:r>
            <a:r>
              <a:rPr 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？</a:t>
            </a:r>
            <a:r>
              <a:rPr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需要手动开 Kibana- 写查询-看结果-得出一个结论</a:t>
            </a:r>
            <a:r>
              <a:rPr 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。</a:t>
            </a:r>
            <a:r>
              <a:rPr lang="en-US" alt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--</a:t>
            </a:r>
            <a:r>
              <a:rPr lang="zh-CN" altLang="en-US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交给</a:t>
            </a:r>
            <a:r>
              <a:rPr lang="en-US" alt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diggy</a:t>
            </a:r>
            <a:endParaRPr lang="en-US" altLang="zh-CN" sz="1150">
              <a:solidFill>
                <a:srgbClr val="6B5B4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card-bg"/>
          <p:cNvSpPr/>
          <p:nvPr>
            <p:custDataLst>
              <p:tags r:id="rId6"/>
            </p:custDataLst>
          </p:nvPr>
        </p:nvSpPr>
        <p:spPr>
          <a:xfrm>
            <a:off x="4736592" y="1097280"/>
            <a:ext cx="4009644" cy="1394460"/>
          </a:xfrm>
          <a:prstGeom prst="rect">
            <a:avLst/>
          </a:prstGeom>
          <a:solidFill>
            <a:srgbClr val="FFF1E6"/>
          </a:solidFill>
          <a:ln w="9525">
            <a:solidFill>
              <a:srgbClr val="F5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-strip"/>
          <p:cNvSpPr/>
          <p:nvPr>
            <p:custDataLst>
              <p:tags r:id="rId7"/>
            </p:custDataLst>
          </p:nvPr>
        </p:nvSpPr>
        <p:spPr>
          <a:xfrm>
            <a:off x="4736592" y="1097280"/>
            <a:ext cx="4009644" cy="73152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8"/>
            </p:custDataLst>
          </p:nvPr>
        </p:nvSpPr>
        <p:spPr>
          <a:xfrm>
            <a:off x="4919472" y="1243584"/>
            <a:ext cx="3643884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5722"/>
                </a:solidFill>
                <a:latin typeface="Calibri" panose="020F0502020204030204"/>
              </a:rPr>
              <a:t>场景 02</a:t>
            </a:r>
            <a:endParaRPr sz="1100" b="1">
              <a:solidFill>
                <a:srgbClr val="FF5722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>
            <p:custDataLst>
              <p:tags r:id="rId9"/>
            </p:custDataLst>
          </p:nvPr>
        </p:nvSpPr>
        <p:spPr>
          <a:xfrm>
            <a:off x="4919472" y="1481328"/>
            <a:ext cx="364388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>
                <a:solidFill>
                  <a:srgbClr val="1F2937"/>
                </a:solidFill>
                <a:latin typeface="微软雅黑" panose="020B0503020204020204" pitchFamily="34" charset="-122"/>
              </a:rPr>
              <a:t>发布前检查</a:t>
            </a:r>
            <a:endParaRPr sz="2000" b="1">
              <a:solidFill>
                <a:srgbClr val="1F29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>
            <p:custDataLst>
              <p:tags r:id="rId10"/>
            </p:custDataLst>
          </p:nvPr>
        </p:nvSpPr>
        <p:spPr>
          <a:xfrm>
            <a:off x="4919472" y="1901952"/>
            <a:ext cx="3643884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想快速看最近几天的错误趋势</a:t>
            </a:r>
            <a:r>
              <a:rPr 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？</a:t>
            </a:r>
            <a:r>
              <a:rPr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查多个 index, 自己比对, 自己判断</a:t>
            </a:r>
            <a:r>
              <a:rPr 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。</a:t>
            </a:r>
            <a:r>
              <a:rPr lang="en-US" alt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--</a:t>
            </a:r>
            <a:r>
              <a:rPr lang="zh-CN" altLang="en-US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交给</a:t>
            </a:r>
            <a:r>
              <a:rPr lang="en-US" alt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diggy</a:t>
            </a:r>
            <a:endParaRPr lang="en-US" altLang="zh-CN" sz="1150">
              <a:solidFill>
                <a:srgbClr val="6B5B4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zh-CN" sz="1150">
              <a:solidFill>
                <a:srgbClr val="6B5B4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card-bg"/>
          <p:cNvSpPr/>
          <p:nvPr>
            <p:custDataLst>
              <p:tags r:id="rId11"/>
            </p:custDataLst>
          </p:nvPr>
        </p:nvSpPr>
        <p:spPr>
          <a:xfrm>
            <a:off x="525780" y="2674620"/>
            <a:ext cx="4009644" cy="1394460"/>
          </a:xfrm>
          <a:prstGeom prst="rect">
            <a:avLst/>
          </a:prstGeom>
          <a:solidFill>
            <a:srgbClr val="FFF1E6"/>
          </a:solidFill>
          <a:ln w="9525">
            <a:solidFill>
              <a:srgbClr val="F5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ard-strip"/>
          <p:cNvSpPr/>
          <p:nvPr>
            <p:custDataLst>
              <p:tags r:id="rId12"/>
            </p:custDataLst>
          </p:nvPr>
        </p:nvSpPr>
        <p:spPr>
          <a:xfrm>
            <a:off x="525780" y="2674620"/>
            <a:ext cx="4009644" cy="73152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>
            <p:custDataLst>
              <p:tags r:id="rId13"/>
            </p:custDataLst>
          </p:nvPr>
        </p:nvSpPr>
        <p:spPr>
          <a:xfrm>
            <a:off x="708660" y="2820924"/>
            <a:ext cx="3643884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5722"/>
                </a:solidFill>
                <a:latin typeface="Calibri" panose="020F0502020204030204"/>
              </a:rPr>
              <a:t>场景 03</a:t>
            </a:r>
            <a:endParaRPr sz="1100" b="1">
              <a:solidFill>
                <a:srgbClr val="FF5722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>
            <p:custDataLst>
              <p:tags r:id="rId14"/>
            </p:custDataLst>
          </p:nvPr>
        </p:nvSpPr>
        <p:spPr>
          <a:xfrm>
            <a:off x="708660" y="3058668"/>
            <a:ext cx="364388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>
                <a:solidFill>
                  <a:srgbClr val="1F2937"/>
                </a:solidFill>
                <a:latin typeface="Times New Roman" panose="02020603050405020304" charset="0"/>
                <a:cs typeface="Times New Roman" panose="02020603050405020304" charset="0"/>
              </a:rPr>
              <a:t>slack</a:t>
            </a:r>
            <a:r>
              <a:rPr sz="2000" b="1">
                <a:solidFill>
                  <a:srgbClr val="1F2937"/>
                </a:solidFill>
                <a:latin typeface="微软雅黑" panose="020B0503020204020204" pitchFamily="34" charset="-122"/>
              </a:rPr>
              <a:t>告警</a:t>
            </a:r>
            <a:endParaRPr sz="2000" b="1">
              <a:solidFill>
                <a:srgbClr val="1F29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>
            <p:custDataLst>
              <p:tags r:id="rId15"/>
            </p:custDataLst>
          </p:nvPr>
        </p:nvSpPr>
        <p:spPr>
          <a:xfrm>
            <a:off x="708660" y="3479292"/>
            <a:ext cx="3643884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半夜告警来了</a:t>
            </a:r>
            <a:r>
              <a:rPr 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，或者</a:t>
            </a:r>
            <a:r>
              <a:rPr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人不在电脑前</a:t>
            </a:r>
            <a:r>
              <a:rPr lang="zh-CN" altLang="en-US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？</a:t>
            </a:r>
            <a:r>
              <a:rPr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很难</a:t>
            </a:r>
            <a:r>
              <a:rPr 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在短时间</a:t>
            </a:r>
            <a:r>
              <a:rPr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内给出大概原因</a:t>
            </a:r>
            <a:r>
              <a:rPr 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。</a:t>
            </a:r>
            <a:r>
              <a:rPr lang="en-US" alt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--</a:t>
            </a:r>
            <a:r>
              <a:rPr lang="zh-CN" altLang="en-US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交给</a:t>
            </a:r>
            <a:r>
              <a:rPr lang="en-US" alt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diggy</a:t>
            </a:r>
            <a:endParaRPr lang="en-US" altLang="zh-CN" sz="1150">
              <a:solidFill>
                <a:srgbClr val="6B5B4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zh-CN" sz="1150">
              <a:solidFill>
                <a:srgbClr val="6B5B4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card-bg"/>
          <p:cNvSpPr/>
          <p:nvPr>
            <p:custDataLst>
              <p:tags r:id="rId16"/>
            </p:custDataLst>
          </p:nvPr>
        </p:nvSpPr>
        <p:spPr>
          <a:xfrm>
            <a:off x="4736592" y="2674620"/>
            <a:ext cx="4009644" cy="1394460"/>
          </a:xfrm>
          <a:prstGeom prst="rect">
            <a:avLst/>
          </a:prstGeom>
          <a:solidFill>
            <a:srgbClr val="FFF1E6"/>
          </a:solidFill>
          <a:ln w="9525">
            <a:solidFill>
              <a:srgbClr val="F5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ard-strip"/>
          <p:cNvSpPr/>
          <p:nvPr>
            <p:custDataLst>
              <p:tags r:id="rId17"/>
            </p:custDataLst>
          </p:nvPr>
        </p:nvSpPr>
        <p:spPr>
          <a:xfrm>
            <a:off x="4736592" y="2674620"/>
            <a:ext cx="4009644" cy="73152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>
            <p:custDataLst>
              <p:tags r:id="rId18"/>
            </p:custDataLst>
          </p:nvPr>
        </p:nvSpPr>
        <p:spPr>
          <a:xfrm>
            <a:off x="4919472" y="2820924"/>
            <a:ext cx="3643884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5722"/>
                </a:solidFill>
                <a:latin typeface="Calibri" panose="020F0502020204030204"/>
              </a:rPr>
              <a:t>场景 04</a:t>
            </a:r>
            <a:endParaRPr sz="1100" b="1">
              <a:solidFill>
                <a:srgbClr val="FF5722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>
            <p:custDataLst>
              <p:tags r:id="rId19"/>
            </p:custDataLst>
          </p:nvPr>
        </p:nvSpPr>
        <p:spPr>
          <a:xfrm>
            <a:off x="4919472" y="3058668"/>
            <a:ext cx="364388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>
                <a:solidFill>
                  <a:srgbClr val="1F2937"/>
                </a:solidFill>
                <a:latin typeface="微软雅黑" panose="020B0503020204020204" pitchFamily="34" charset="-122"/>
              </a:rPr>
              <a:t>错</a:t>
            </a:r>
            <a:r>
              <a:rPr sz="2000" b="1">
                <a:solidFill>
                  <a:srgbClr val="1F2937"/>
                </a:solidFill>
                <a:latin typeface="微软雅黑" panose="020B0503020204020204" pitchFamily="34" charset="-122"/>
              </a:rPr>
              <a:t>误</a:t>
            </a:r>
            <a:r>
              <a:rPr sz="2000" b="1">
                <a:solidFill>
                  <a:srgbClr val="1F2937"/>
                </a:solidFill>
                <a:latin typeface="微软雅黑" panose="020B0503020204020204" pitchFamily="34" charset="-122"/>
              </a:rPr>
              <a:t>日志</a:t>
            </a:r>
            <a:endParaRPr sz="2000" b="1">
              <a:solidFill>
                <a:srgbClr val="1F2937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>
            <p:custDataLst>
              <p:tags r:id="rId20"/>
            </p:custDataLst>
          </p:nvPr>
        </p:nvSpPr>
        <p:spPr>
          <a:xfrm>
            <a:off x="4919472" y="3479292"/>
            <a:ext cx="3643884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同事甩来一条错误日志链接但</a:t>
            </a:r>
            <a:r>
              <a:rPr 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没办法马上分析，</a:t>
            </a:r>
            <a:r>
              <a:rPr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没办法立即给出大概结论</a:t>
            </a:r>
            <a:r>
              <a:rPr 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</a:rPr>
              <a:t>。</a:t>
            </a:r>
            <a:r>
              <a:rPr lang="en-US" alt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--</a:t>
            </a:r>
            <a:r>
              <a:rPr lang="zh-CN" altLang="en-US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交给</a:t>
            </a:r>
            <a:r>
              <a:rPr lang="en-US" altLang="zh-CN" sz="1150">
                <a:solidFill>
                  <a:srgbClr val="6B5B4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diggy</a:t>
            </a:r>
            <a:endParaRPr lang="en-US" altLang="zh-CN" sz="1150">
              <a:solidFill>
                <a:srgbClr val="6B5B4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zh-CN" sz="1150">
              <a:solidFill>
                <a:srgbClr val="6B5B4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64592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2200" b="1">
                <a:solidFill>
                  <a:srgbClr val="0F172A"/>
                </a:solidFill>
                <a:latin typeface="微软雅黑" panose="020B0503020204020204" pitchFamily="34" charset="-122"/>
              </a:rPr>
              <a:t>Diggy 核心架构</a:t>
            </a:r>
            <a:endParaRPr sz="2200" b="1">
              <a:solidFill>
                <a:srgbClr val="0F172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1417320" cy="713232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</a:rPr>
              <a:t>入口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783080" y="777240"/>
            <a:ext cx="7086600" cy="713232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11680" y="886968"/>
            <a:ext cx="3223260" cy="4937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微软雅黑" panose="020B0503020204020204" pitchFamily="34" charset="-122"/>
              </a:rPr>
              <a:t>Slack 用户消息</a:t>
            </a:r>
            <a:endParaRPr sz="11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17820" y="886968"/>
            <a:ext cx="3223260" cy="4937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微软雅黑" panose="020B0503020204020204" pitchFamily="34" charset="-122"/>
              </a:rPr>
              <a:t>定时日报任务</a:t>
            </a:r>
            <a:endParaRPr sz="11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609344"/>
            <a:ext cx="1417320" cy="71323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</a:rPr>
              <a:t>任务入口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783080" y="1609344"/>
            <a:ext cx="7086600" cy="713232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11680" y="1719072"/>
            <a:ext cx="3223260" cy="4937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微软雅黑" panose="020B0503020204020204" pitchFamily="34" charset="-122"/>
              </a:rPr>
              <a:t>Entry: 分类 / 分发 / 创建 task</a:t>
            </a:r>
            <a:endParaRPr sz="11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17820" y="1719072"/>
            <a:ext cx="3223260" cy="4937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Runtime Harness: task</a:t>
            </a:r>
            <a:r>
              <a:rPr sz="1100" b="0">
                <a:solidFill>
                  <a:srgbClr val="334155"/>
                </a:solidFill>
                <a:latin typeface="微软雅黑" panose="020B0503020204020204" pitchFamily="34" charset="-122"/>
              </a:rPr>
              <a:t> 池 / 证据 / 校验 / 审计</a:t>
            </a:r>
            <a:endParaRPr sz="11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4320" y="2441448"/>
            <a:ext cx="1417320" cy="71323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</a:rPr>
              <a:t>核心能力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783080" y="2441448"/>
            <a:ext cx="7086600" cy="713232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11680" y="2551176"/>
            <a:ext cx="3223260" cy="4937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微软雅黑" panose="020B0503020204020204" pitchFamily="34" charset="-122"/>
              </a:rPr>
              <a:t>M1: 日志日报</a:t>
            </a:r>
            <a:endParaRPr sz="11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17820" y="2551176"/>
            <a:ext cx="3223260" cy="4937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0">
                <a:solidFill>
                  <a:srgbClr val="334155"/>
                </a:solidFill>
                <a:latin typeface="微软雅黑" panose="020B0503020204020204" pitchFamily="34" charset="-122"/>
              </a:rPr>
              <a:t>M2: 日志锚点诊断</a:t>
            </a:r>
            <a:endParaRPr sz="11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4320" y="3273552"/>
            <a:ext cx="1417320" cy="713232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</a:rPr>
              <a:t>依赖资源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783080" y="3273552"/>
            <a:ext cx="7086600" cy="713232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11680" y="3383280"/>
            <a:ext cx="6629400" cy="4937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Elasticsearch / AKS / DeepSeek / PVC Workspace</a:t>
            </a:r>
            <a:endParaRPr sz="1200" b="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74320" y="4105656"/>
            <a:ext cx="1417320" cy="713232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</a:rPr>
              <a:t>输出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783080" y="4105656"/>
            <a:ext cx="7086600" cy="713232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63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011680" y="4215384"/>
            <a:ext cx="6629400" cy="49377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Slack 过程消息 / Markdown 归档 / PDF 日报</a:t>
            </a:r>
            <a:endParaRPr sz="1200" b="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产品能力总览  / 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两个能力, 覆盖汇报和诊断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1554480" cy="2834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51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统一入口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1005840" cy="0"/>
          </a:xfrm>
          <a:prstGeom prst="line">
            <a:avLst/>
          </a:prstGeom>
          <a:noFill/>
          <a:ln w="6350">
            <a:solidFill>
              <a:srgbClr val="E5D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@Diggy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</a:t>
            </a:r>
            <a:r>
              <a:rPr lang="zh-CN" altLang="en-US" sz="11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即可</a:t>
            </a:r>
            <a:r>
              <a:rPr lang="en-US" sz="11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18872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5760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自主分析并</a:t>
            </a:r>
            <a:r>
              <a:rPr lang="zh-CN" altLang="en-US" sz="11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zh-CN" altLang="en-US" sz="11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011680" y="2240280"/>
            <a:ext cx="365760" cy="0"/>
          </a:xfrm>
          <a:prstGeom prst="line">
            <a:avLst/>
          </a:prstGeom>
          <a:noFill/>
          <a:ln w="19050">
            <a:solidFill>
              <a:srgbClr val="E5D5C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011680" y="3429000"/>
            <a:ext cx="365760" cy="0"/>
          </a:xfrm>
          <a:prstGeom prst="line">
            <a:avLst/>
          </a:prstGeom>
          <a:noFill/>
          <a:ln w="19050">
            <a:solidFill>
              <a:srgbClr val="E5D5C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68880" y="1417320"/>
            <a:ext cx="3108960" cy="1325880"/>
          </a:xfrm>
          <a:prstGeom prst="rect">
            <a:avLst/>
          </a:prstGeom>
          <a:solidFill>
            <a:srgbClr val="FFE4D6"/>
          </a:solidFill>
          <a:ln w="15240">
            <a:solidFill>
              <a:srgbClr val="FF57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1417320"/>
            <a:ext cx="73152" cy="132588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5544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46120" y="1600200"/>
            <a:ext cx="548640" cy="274320"/>
          </a:xfrm>
          <a:prstGeom prst="rect">
            <a:avLst/>
          </a:prstGeom>
          <a:solidFill>
            <a:srgbClr val="E651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900" b="1" kern="0" spc="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altLang="zh-CN" sz="900" b="1" kern="0" spc="100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51760" y="1920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时间窗报告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651760" y="2331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自然语言问时间范围, 自动聚合日志, 生成健康报告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0" y="2926080"/>
            <a:ext cx="3108960" cy="1325880"/>
          </a:xfrm>
          <a:prstGeom prst="rect">
            <a:avLst/>
          </a:prstGeom>
          <a:solidFill>
            <a:srgbClr val="FFE4D6"/>
          </a:solidFill>
          <a:ln w="15240">
            <a:solidFill>
              <a:srgbClr val="FF57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2926080"/>
            <a:ext cx="73152" cy="132588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30632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46120" y="3108960"/>
            <a:ext cx="548640" cy="274320"/>
          </a:xfrm>
          <a:prstGeom prst="rect">
            <a:avLst/>
          </a:prstGeom>
          <a:solidFill>
            <a:srgbClr val="E6510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900" b="1" dirty="0"/>
              <a:t>DIAGNOSE</a:t>
            </a:r>
            <a:endParaRPr lang="en-US" altLang="zh-CN" sz="900" b="1" dirty="0"/>
          </a:p>
        </p:txBody>
      </p:sp>
      <p:sp>
        <p:nvSpPr>
          <p:cNvPr id="25" name="Text 23"/>
          <p:cNvSpPr/>
          <p:nvPr/>
        </p:nvSpPr>
        <p:spPr>
          <a:xfrm>
            <a:off x="2651760" y="34290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日志</a:t>
            </a:r>
            <a:r>
              <a:rPr lang="en-US" sz="2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651760" y="3840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 Kibana 链接或告警ID, </a:t>
            </a:r>
            <a:r>
              <a:rPr lang="zh-CN" alt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自主</a:t>
            </a: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取证</a:t>
            </a:r>
            <a:r>
              <a:rPr lang="zh-CN" alt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</a:t>
            </a: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并生成诊断报告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1417320"/>
            <a:ext cx="2926080" cy="1325880"/>
          </a:xfrm>
          <a:prstGeom prst="rect">
            <a:avLst/>
          </a:prstGeom>
          <a:solidFill>
            <a:srgbClr val="FFF1E6"/>
          </a:solidFill>
          <a:ln w="9525">
            <a:solidFill>
              <a:srgbClr val="F5E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15544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输出 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18288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8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</a:t>
            </a:r>
            <a:r>
              <a:rPr lang="zh-CN" altLang="en-US" sz="18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状态一眼看清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43600" y="2240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100" dirty="0"/>
              <a:t>自动汇总异常</a:t>
            </a:r>
            <a:r>
              <a:rPr lang="zh-CN" altLang="en-US" sz="1100" dirty="0"/>
              <a:t>数量、</a:t>
            </a:r>
            <a:r>
              <a:rPr lang="en-US" altLang="zh-CN" sz="1100" dirty="0"/>
              <a:t>Top </a:t>
            </a:r>
            <a:r>
              <a:rPr lang="zh-CN" altLang="en-US" sz="1100" dirty="0"/>
              <a:t>服务和风险点，帮助团队提前发现问题。</a:t>
            </a:r>
            <a:endParaRPr lang="zh-CN" alt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60720" y="2926080"/>
            <a:ext cx="2926715" cy="1334770"/>
          </a:xfrm>
          <a:prstGeom prst="rect">
            <a:avLst/>
          </a:prstGeom>
          <a:solidFill>
            <a:srgbClr val="FFF1E6"/>
          </a:solidFill>
          <a:ln w="9525">
            <a:solidFill>
              <a:srgbClr val="F5E0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0861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输出 02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383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可溯源的</a:t>
            </a:r>
            <a:r>
              <a:rPr lang="zh-CN" altLang="en-US" sz="18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故障</a:t>
            </a:r>
            <a:r>
              <a:rPr lang="zh-CN" altLang="en-US" sz="18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</a:t>
            </a:r>
            <a:endParaRPr lang="zh-CN" altLang="en-US" sz="18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943600" y="38404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还原现场、整理证据链、推断可能原因，并给出下一步处理建议。</a:t>
            </a:r>
            <a:endParaRPr lang="zh-CN" altLang="en-US" sz="1100" dirty="0">
              <a:solidFill>
                <a:srgbClr val="6B5B4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955280" y="4937760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7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 /  时间窗报告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让用户用一句话拿到可信诊断报告</a:t>
            </a:r>
            <a:endParaRPr lang="zh-CN" altLang="en-US" sz="32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0972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</a:t>
            </a:r>
            <a:r>
              <a:rPr lang="zh-CN" alt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</a:t>
            </a:r>
            <a:endParaRPr lang="zh-CN" altLang="en-US" sz="13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zh-CN" sz="10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</a:t>
            </a:r>
            <a:r>
              <a:rPr lang="zh-CN" altLang="en-US" sz="10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帮我分析近三天日志</a:t>
            </a:r>
            <a:r>
              <a:rPr lang="en-US" altLang="zh-CN" sz="10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”</a:t>
            </a:r>
            <a:endParaRPr lang="en-US" altLang="zh-CN" sz="1000" dirty="0">
              <a:solidFill>
                <a:srgbClr val="6B5B4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559052" y="1920240"/>
            <a:ext cx="82296" cy="0"/>
          </a:xfrm>
          <a:prstGeom prst="line">
            <a:avLst/>
          </a:prstGeom>
          <a:noFill/>
          <a:ln w="15240">
            <a:solidFill>
              <a:srgbClr val="E5D5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645920" y="1280160"/>
            <a:ext cx="1097280" cy="1280160"/>
          </a:xfrm>
          <a:prstGeom prst="rect">
            <a:avLst/>
          </a:prstGeom>
          <a:solidFill>
            <a:srgbClr val="FFE4D6"/>
          </a:solidFill>
          <a:ln w="15240">
            <a:solidFill>
              <a:srgbClr val="FF5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371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37360" y="16459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解析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1031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提取时间范围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7772" y="1920240"/>
            <a:ext cx="82296" cy="0"/>
          </a:xfrm>
          <a:prstGeom prst="line">
            <a:avLst/>
          </a:prstGeom>
          <a:noFill/>
          <a:ln w="15240">
            <a:solidFill>
              <a:srgbClr val="E5D5C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34640" y="1280160"/>
            <a:ext cx="1097280" cy="1280160"/>
          </a:xfrm>
          <a:prstGeom prst="rect">
            <a:avLst/>
          </a:prstGeom>
          <a:solidFill>
            <a:srgbClr val="FFF1E6"/>
          </a:solidFill>
          <a:ln w="9525">
            <a:solidFill>
              <a:srgbClr val="F5E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371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6B5B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26080" y="16459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ES 聚合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21031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确定性</a:t>
            </a:r>
            <a:r>
              <a:rPr lang="zh-CN" altLang="en-US" sz="10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</a:t>
            </a:r>
            <a:endParaRPr lang="zh-CN" altLang="en-US" sz="1000" dirty="0">
              <a:solidFill>
                <a:srgbClr val="6B5B4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936492" y="1920240"/>
            <a:ext cx="82296" cy="0"/>
          </a:xfrm>
          <a:prstGeom prst="line">
            <a:avLst/>
          </a:prstGeom>
          <a:noFill/>
          <a:ln w="15240">
            <a:solidFill>
              <a:srgbClr val="E5D5C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023360" y="1280160"/>
            <a:ext cx="1097280" cy="1280160"/>
          </a:xfrm>
          <a:prstGeom prst="rect">
            <a:avLst/>
          </a:prstGeom>
          <a:solidFill>
            <a:srgbClr val="FFF1E6"/>
          </a:solidFill>
          <a:ln w="9525">
            <a:solidFill>
              <a:srgbClr val="F5E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1371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6B5B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0" y="16459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健康分级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21031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代码评分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5212" y="1920240"/>
            <a:ext cx="82296" cy="0"/>
          </a:xfrm>
          <a:prstGeom prst="line">
            <a:avLst/>
          </a:prstGeom>
          <a:noFill/>
          <a:ln w="15240">
            <a:solidFill>
              <a:srgbClr val="E5D5C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212080" y="1280160"/>
            <a:ext cx="1097280" cy="1280160"/>
          </a:xfrm>
          <a:prstGeom prst="rect">
            <a:avLst/>
          </a:prstGeom>
          <a:solidFill>
            <a:srgbClr val="FFE4D6"/>
          </a:solidFill>
          <a:ln w="15240">
            <a:solidFill>
              <a:srgbClr val="FF57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1371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03520" y="16459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</a:t>
            </a:r>
            <a:r>
              <a:rPr lang="zh-CN" alt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zh-CN" altLang="en-US" sz="13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03520" y="21031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</a:t>
            </a:r>
            <a:r>
              <a:rPr lang="zh-CN" altLang="en-US" sz="10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zh-CN" altLang="en-US" sz="1000" dirty="0">
              <a:solidFill>
                <a:srgbClr val="6B5B4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13932" y="1920240"/>
            <a:ext cx="82296" cy="0"/>
          </a:xfrm>
          <a:prstGeom prst="line">
            <a:avLst/>
          </a:prstGeom>
          <a:noFill/>
          <a:ln w="15240">
            <a:solidFill>
              <a:srgbClr val="E5D5C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00800" y="1280160"/>
            <a:ext cx="1097280" cy="1280160"/>
          </a:xfrm>
          <a:prstGeom prst="rect">
            <a:avLst/>
          </a:prstGeom>
          <a:solidFill>
            <a:srgbClr val="FFF1E6"/>
          </a:solidFill>
          <a:ln w="9525">
            <a:solidFill>
              <a:srgbClr val="F5E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1371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6B5B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92240" y="16459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</a:t>
            </a:r>
            <a:r>
              <a:rPr lang="en-US" sz="13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21031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防编造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02652" y="1920240"/>
            <a:ext cx="82296" cy="0"/>
          </a:xfrm>
          <a:prstGeom prst="line">
            <a:avLst/>
          </a:prstGeom>
          <a:noFill/>
          <a:ln w="15240">
            <a:solidFill>
              <a:srgbClr val="E5D5C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589520" y="1280160"/>
            <a:ext cx="1097280" cy="1280160"/>
          </a:xfrm>
          <a:prstGeom prst="rect">
            <a:avLst/>
          </a:prstGeom>
          <a:solidFill>
            <a:srgbClr val="1F293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1371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07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680960" y="16459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</a:t>
            </a: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680960" y="21031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7E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可交付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03120" y="2926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57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步骤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651760" y="2990088"/>
            <a:ext cx="274320" cy="137160"/>
          </a:xfrm>
          <a:prstGeom prst="rect">
            <a:avLst/>
          </a:prstGeom>
          <a:solidFill>
            <a:srgbClr val="FFE4D6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78200" y="2926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系统步骤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023360" y="2990088"/>
            <a:ext cx="274320" cy="137160"/>
          </a:xfrm>
          <a:prstGeom prst="rect">
            <a:avLst/>
          </a:prstGeom>
          <a:solidFill>
            <a:srgbClr val="FFF1E6"/>
          </a:solidFill>
          <a:ln w="12700">
            <a:solidFill>
              <a:srgbClr val="F5E0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926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交付输出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1955" y="2990088"/>
            <a:ext cx="274320" cy="137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3383280"/>
            <a:ext cx="7863840" cy="1280160"/>
          </a:xfrm>
          <a:prstGeom prst="rect">
            <a:avLst/>
          </a:prstGeom>
          <a:solidFill>
            <a:srgbClr val="FFF1E6"/>
          </a:solidFill>
          <a:ln w="9525">
            <a:solidFill>
              <a:srgbClr val="F5E0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3383280"/>
            <a:ext cx="73152" cy="12801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34747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1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总体</a:t>
            </a:r>
            <a:r>
              <a:rPr lang="en-US" sz="1100" b="1" kern="0" spc="2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设计原则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负责理解和</a:t>
            </a:r>
            <a:r>
              <a:rPr lang="zh-CN" alt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分析，所有数据源和确定性数字全部</a:t>
            </a: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来自ES 聚合</a:t>
            </a:r>
            <a:r>
              <a:rPr lang="zh-CN" alt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结果，</a:t>
            </a: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LLM 不参与计算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14400" y="420624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报告生成后做实体校验</a:t>
            </a:r>
            <a:r>
              <a:rPr lang="zh-CN" alt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防止LLM编造</a:t>
            </a:r>
            <a:r>
              <a:rPr lang="zh-CN" alt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结果。</a:t>
            </a: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服务名, 错误码, 数字必须能在ES</a:t>
            </a:r>
            <a:r>
              <a:rPr lang="zh-CN" alt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聚合</a:t>
            </a:r>
            <a:r>
              <a:rPr lang="en-US" sz="1100" dirty="0">
                <a:solidFill>
                  <a:srgbClr val="6B5B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结果里找到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AutoShape 30"/>
          <p:cNvSpPr/>
          <p:nvPr/>
        </p:nvSpPr>
        <p:spPr>
          <a:xfrm>
            <a:off x="4846955" y="1912620"/>
            <a:ext cx="3533775" cy="1664335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" name="Text 0"/>
          <p:cNvSpPr/>
          <p:nvPr/>
        </p:nvSpPr>
        <p:spPr>
          <a:xfrm>
            <a:off x="457200" y="914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M2  /  锚点诊断 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逐轮取证</a:t>
            </a:r>
            <a:r>
              <a:rPr lang="zh-CN" altLang="en-US" sz="3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，收敛</a:t>
            </a:r>
            <a:r>
              <a:rPr lang="zh-CN" altLang="en-US" sz="3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</a:t>
            </a:r>
            <a:endParaRPr lang="zh-CN" altLang="en-US" sz="32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6" name="AutoShape 29"/>
          <p:cNvSpPr/>
          <p:nvPr/>
        </p:nvSpPr>
        <p:spPr>
          <a:xfrm>
            <a:off x="1903730" y="1238250"/>
            <a:ext cx="533654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核心差异：</a:t>
            </a:r>
            <a:r>
              <a:rPr lang="en-US" altLang="zh-CN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</a:t>
            </a:r>
            <a:r>
              <a:rPr lang="zh-CN" alt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从“生成答案”变成“取证</a:t>
            </a:r>
            <a:r>
              <a:rPr lang="zh-CN" altLang="en-US" sz="16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</a:t>
            </a:r>
            <a:r>
              <a:rPr lang="zh-CN" altLang="en-US" sz="16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策略”</a:t>
            </a:r>
            <a:endParaRPr lang="zh-CN" altLang="en-US" sz="1600" b="1" i="0" u="none" strike="noStrike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7" name="AutoShape 30"/>
          <p:cNvSpPr/>
          <p:nvPr/>
        </p:nvSpPr>
        <p:spPr>
          <a:xfrm>
            <a:off x="577850" y="1912620"/>
            <a:ext cx="3533775" cy="166497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8" name="AutoShape 31"/>
          <p:cNvSpPr/>
          <p:nvPr/>
        </p:nvSpPr>
        <p:spPr>
          <a:xfrm>
            <a:off x="768350" y="2235835"/>
            <a:ext cx="306832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普通LLM：黑盒</a:t>
            </a:r>
            <a:r>
              <a:rPr lang="zh-CN" alt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</a:t>
            </a:r>
            <a:endParaRPr lang="en-US" sz="1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000"/>
          </a:p>
          <a:p>
            <a:pPr indent="0" algn="l">
              <a:lnSpc>
                <a:spcPct val="108000"/>
              </a:lnSpc>
            </a:pPr>
            <a:r>
              <a:rPr lang="en-US" sz="10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一次性读日志 → 直接给结论</a:t>
            </a:r>
            <a:endParaRPr lang="en-US" sz="100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0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看起来像分析，实际很难证明它查过什么、漏了什么、凭什么相信。</a:t>
            </a:r>
            <a:endParaRPr lang="en-US" sz="100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0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结论依赖模型生成，易脱离真实</a:t>
            </a:r>
            <a:r>
              <a:rPr lang="zh-CN" altLang="en-US" sz="10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场景，参考价值有限</a:t>
            </a:r>
            <a:r>
              <a:rPr lang="en-US" sz="10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0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endParaRPr lang="en-US" sz="100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endParaRPr lang="en-US" sz="100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0" name="AutoShape 33"/>
          <p:cNvSpPr/>
          <p:nvPr/>
        </p:nvSpPr>
        <p:spPr>
          <a:xfrm>
            <a:off x="5180965" y="2088515"/>
            <a:ext cx="2865755" cy="11087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Diggy ：</a:t>
            </a:r>
            <a:r>
              <a:rPr lang="en-US"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逐轮取证</a:t>
            </a:r>
            <a:r>
              <a:rPr lang="zh-CN" altLang="en-US" sz="1200" b="1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，收敛结果</a:t>
            </a:r>
            <a:endParaRPr lang="en-US" sz="1200" b="1" i="0" u="none" strike="noStrike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200"/>
          </a:p>
          <a:p>
            <a:pPr indent="0" algn="l">
              <a:lnSpc>
                <a:spcPct val="108000"/>
              </a:lnSpc>
            </a:pPr>
            <a:r>
              <a:rPr lang="zh-CN" alt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不是让模型直接“猜根因”，</a:t>
            </a:r>
            <a:endParaRPr lang="zh-CN" altLang="en-US" sz="10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zh-CN" alt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而是让模型提出假设、选择下一步取证。</a:t>
            </a:r>
            <a:endParaRPr lang="zh-CN" altLang="en-US" sz="10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zh-CN" alt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每轮证据都会收敛或推翻假设，</a:t>
            </a:r>
            <a:endParaRPr lang="zh-CN" altLang="en-US" sz="10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zh-CN" alt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最终结论必须被原始日志引用支撑。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4" name="Shape 27"/>
          <p:cNvSpPr/>
          <p:nvPr/>
        </p:nvSpPr>
        <p:spPr>
          <a:xfrm>
            <a:off x="544830" y="4125595"/>
            <a:ext cx="8229600" cy="556895"/>
          </a:xfrm>
          <a:prstGeom prst="rect">
            <a:avLst/>
          </a:prstGeom>
          <a:solidFill>
            <a:srgbClr val="FFF1E6"/>
          </a:solidFill>
          <a:ln w="9525">
            <a:solidFill>
              <a:srgbClr val="F5E0D0"/>
            </a:solidFill>
            <a:prstDash val="solid"/>
          </a:ln>
        </p:spPr>
      </p:sp>
      <p:sp>
        <p:nvSpPr>
          <p:cNvPr id="75" name="Shape 28"/>
          <p:cNvSpPr/>
          <p:nvPr/>
        </p:nvSpPr>
        <p:spPr>
          <a:xfrm>
            <a:off x="544830" y="4125595"/>
            <a:ext cx="76200" cy="55753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76" name="Text 29"/>
          <p:cNvSpPr/>
          <p:nvPr/>
        </p:nvSpPr>
        <p:spPr>
          <a:xfrm>
            <a:off x="819150" y="4239895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>
                <a:solidFill>
                  <a:srgbClr val="43140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提供可信的证据链辅助决策，而非替代人的判断。让AI成为可靠的“助手”，而非不可控的“决策者”。</a:t>
            </a:r>
            <a:endParaRPr lang="en-US" sz="1200" dirty="0">
              <a:solidFill>
                <a:srgbClr val="43140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421640" y="1073785"/>
            <a:ext cx="1286510" cy="758190"/>
          </a:xfrm>
          <a:prstGeom prst="roundRect">
            <a:avLst>
              <a:gd name="adj" fmla="val 10000"/>
            </a:avLst>
          </a:prstGeom>
          <a:solidFill>
            <a:srgbClr val="FFE0B2"/>
          </a:solidFill>
          <a:ln w="12700">
            <a:solidFill>
              <a:srgbClr val="FF5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5722"/>
                </a:solidFill>
                <a:latin typeface="微软雅黑" panose="020B0503020204020204" pitchFamily="34" charset="-122"/>
              </a:rPr>
              <a:t>ENTRY</a:t>
            </a:r>
            <a:endParaRPr sz="1000" b="1">
              <a:solidFill>
                <a:srgbClr val="FF5722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POST /order 504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call payment timeout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traceid=</a:t>
            </a:r>
            <a:r>
              <a:rPr sz="800">
                <a:solidFill>
                  <a:schemeClr val="tx1"/>
                </a:solidFill>
                <a:latin typeface="微软雅黑" panose="020B0503020204020204" pitchFamily="34" charset="-122"/>
              </a:rPr>
              <a:t>T-91C</a:t>
            </a:r>
            <a:endParaRPr sz="80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205990" y="1069975"/>
            <a:ext cx="1245870" cy="762000"/>
          </a:xfrm>
          <a:prstGeom prst="roundRect">
            <a:avLst>
              <a:gd name="adj" fmla="val 10000"/>
            </a:avLst>
          </a:prstGeom>
          <a:solidFill>
            <a:srgbClr val="FFE0B2"/>
          </a:solidFill>
          <a:ln w="12700">
            <a:solidFill>
              <a:srgbClr val="FF5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5722"/>
                </a:solidFill>
                <a:latin typeface="微软雅黑" panose="020B0503020204020204" pitchFamily="34" charset="-122"/>
              </a:rPr>
              <a:t>建立证据池</a:t>
            </a:r>
            <a:endParaRPr sz="1000" b="1">
              <a:solidFill>
                <a:srgbClr val="FF5722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traceId / 时间 /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订单请求 / 先不下结论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949700" y="1073785"/>
            <a:ext cx="1344295" cy="75819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B45309"/>
                </a:solidFill>
                <a:latin typeface="微软雅黑" panose="020B0503020204020204" pitchFamily="34" charset="-122"/>
              </a:rPr>
              <a:t>H1 假设</a:t>
            </a:r>
            <a:endParaRPr sz="1000" b="1">
              <a:solidFill>
                <a:srgbClr val="B45309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Payment 服务挂了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预测: 错误日志次数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实例不可用 / 大量 5xx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77535" y="1069340"/>
            <a:ext cx="1310640" cy="762635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6B7280"/>
                </a:solidFill>
                <a:latin typeface="微软雅黑" panose="020B0503020204020204" pitchFamily="34" charset="-122"/>
              </a:rPr>
              <a:t>取证工具 A</a:t>
            </a:r>
            <a:endParaRPr sz="1000" b="1">
              <a:solidFill>
                <a:srgbClr val="6B7280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服务健康检查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pod日志查询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38390" y="1072515"/>
            <a:ext cx="1294130" cy="742315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2563EB"/>
                </a:solidFill>
                <a:latin typeface="微软雅黑" panose="020B0503020204020204" pitchFamily="34" charset="-122"/>
              </a:rPr>
              <a:t>证据 A</a:t>
            </a:r>
            <a:endParaRPr sz="1000" b="1">
              <a:solidFill>
                <a:srgbClr val="2563EB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Payment 实例</a:t>
            </a: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正常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无异常日志</a:t>
            </a:r>
            <a:endParaRPr lang="zh-CN" sz="80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8330" y="446405"/>
            <a:ext cx="5833110" cy="255905"/>
          </a:xfrm>
          <a:prstGeom prst="roundRect">
            <a:avLst>
              <a:gd name="adj" fmla="val 40000"/>
            </a:avLst>
          </a:prstGeom>
          <a:solidFill>
            <a:srgbClr val="E2E8F0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900" b="1">
                <a:solidFill>
                  <a:srgbClr val="334155"/>
                </a:solidFill>
                <a:latin typeface="微软雅黑" panose="020B0503020204020204" pitchFamily="34" charset="-122"/>
              </a:rPr>
              <a:t>证据池内容:  俯瞰图</a:t>
            </a:r>
            <a:r>
              <a:rPr lang="en-US" sz="900" b="1">
                <a:solidFill>
                  <a:srgbClr val="334155"/>
                </a:solidFill>
                <a:latin typeface="微软雅黑" panose="020B0503020204020204" pitchFamily="34" charset="-122"/>
              </a:rPr>
              <a:t> </a:t>
            </a:r>
            <a:r>
              <a:rPr sz="900" b="1">
                <a:solidFill>
                  <a:srgbClr val="334155"/>
                </a:solidFill>
                <a:latin typeface="微软雅黑" panose="020B0503020204020204" pitchFamily="34" charset="-122"/>
              </a:rPr>
              <a:t>/</a:t>
            </a:r>
            <a:r>
              <a:rPr lang="en-US" sz="900" b="1">
                <a:solidFill>
                  <a:srgbClr val="334155"/>
                </a:solidFill>
                <a:latin typeface="微软雅黑" panose="020B0503020204020204" pitchFamily="34" charset="-122"/>
              </a:rPr>
              <a:t> </a:t>
            </a:r>
            <a:r>
              <a:rPr sz="900" b="1">
                <a:solidFill>
                  <a:srgbClr val="334155"/>
                </a:solidFill>
                <a:latin typeface="微软雅黑" panose="020B0503020204020204" pitchFamily="34" charset="-122"/>
              </a:rPr>
              <a:t>原始日志  /  traceId  /  错误信息  /  实例列表     /  反证记录</a:t>
            </a:r>
            <a:endParaRPr sz="900" b="1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3530" y="2167890"/>
            <a:ext cx="1499235" cy="75819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lang="zh-CN" sz="1000" b="1">
                <a:solidFill>
                  <a:srgbClr val="DC2626"/>
                </a:solidFill>
                <a:latin typeface="微软雅黑" panose="020B0503020204020204" pitchFamily="34" charset="-122"/>
              </a:rPr>
              <a:t>审核</a:t>
            </a:r>
            <a:r>
              <a:rPr sz="1000" b="1">
                <a:solidFill>
                  <a:srgbClr val="DC2626"/>
                </a:solidFill>
                <a:latin typeface="微软雅黑" panose="020B0503020204020204" pitchFamily="34" charset="-122"/>
              </a:rPr>
              <a:t> H1</a:t>
            </a:r>
            <a:endParaRPr sz="1000" b="1">
              <a:solidFill>
                <a:srgbClr val="DC2626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来源可信：监控 + 服务发现</a:t>
            </a:r>
            <a:endParaRPr lang="zh-CN" altLang="en-US" sz="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反证：服务没挂</a:t>
            </a:r>
            <a:endParaRPr lang="zh-CN" altLang="en-US" sz="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结论：推翻“挂了”</a:t>
            </a:r>
            <a:endParaRPr lang="zh-CN" altLang="en-US" sz="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49475" y="2185670"/>
            <a:ext cx="1463675" cy="74041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B45309"/>
                </a:solidFill>
                <a:latin typeface="微软雅黑" panose="020B0503020204020204" pitchFamily="34" charset="-122"/>
              </a:rPr>
              <a:t>H2 假设</a:t>
            </a:r>
            <a:endParaRPr sz="1000" b="1">
              <a:solidFill>
                <a:srgbClr val="B45309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Payment 没问题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但接口响应太慢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预测: payment 接口响应时间长</a:t>
            </a:r>
            <a:endParaRPr lang="zh-CN" sz="80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920490" y="2165985"/>
            <a:ext cx="1503045" cy="760095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6B7280"/>
                </a:solidFill>
                <a:latin typeface="微软雅黑" panose="020B0503020204020204" pitchFamily="34" charset="-122"/>
              </a:rPr>
              <a:t>证据缺口</a:t>
            </a:r>
            <a:endParaRPr sz="1000" b="1">
              <a:solidFill>
                <a:srgbClr val="6B7280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 对应的 payment请求耗时多少?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慢在 payment 内还是跨链路?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726430" y="2186305"/>
            <a:ext cx="1230630" cy="739775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6B7280"/>
                </a:solidFill>
                <a:latin typeface="微软雅黑" panose="020B0503020204020204" pitchFamily="34" charset="-122"/>
              </a:rPr>
              <a:t>取证工具 B</a:t>
            </a:r>
            <a:endParaRPr sz="1000" b="1">
              <a:solidFill>
                <a:srgbClr val="6B7280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lang="zh-CN" sz="800">
                <a:solidFill>
                  <a:srgbClr val="334155"/>
                </a:solidFill>
                <a:latin typeface="微软雅黑" panose="020B0503020204020204" pitchFamily="34" charset="-122"/>
              </a:rPr>
              <a:t>查询</a:t>
            </a: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payment 服务日志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33945" y="2146935"/>
            <a:ext cx="1325245" cy="711835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2563EB"/>
                </a:solidFill>
                <a:latin typeface="微软雅黑" panose="020B0503020204020204" pitchFamily="34" charset="-122"/>
              </a:rPr>
              <a:t>证据 B</a:t>
            </a:r>
            <a:endParaRPr sz="1000" b="1">
              <a:solidFill>
                <a:srgbClr val="2563EB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payment 日志: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lang="en-US" sz="800">
                <a:solidFill>
                  <a:srgbClr val="334155"/>
                </a:solidFill>
                <a:latin typeface="微软雅黑" panose="020B0503020204020204" pitchFamily="34" charset="-122"/>
              </a:rPr>
              <a:t>/do</a:t>
            </a:r>
            <a:r>
              <a:rPr lang="en-US" sz="800">
                <a:solidFill>
                  <a:srgbClr val="334155"/>
                </a:solidFill>
                <a:latin typeface="微软雅黑" panose="020B0503020204020204" pitchFamily="34" charset="-122"/>
              </a:rPr>
              <a:t>Payment</a:t>
            </a: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 </a:t>
            </a:r>
            <a:r>
              <a:rPr lang="en-US" sz="800">
                <a:solidFill>
                  <a:srgbClr val="334155"/>
                </a:solidFill>
                <a:latin typeface="微软雅黑" panose="020B0503020204020204" pitchFamily="34" charset="-122"/>
              </a:rPr>
              <a:t>35</a:t>
            </a: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s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02765" y="2585720"/>
            <a:ext cx="269875" cy="1339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650" b="1" i="0">
                <a:solidFill>
                  <a:srgbClr val="DC2626"/>
                </a:solidFill>
                <a:latin typeface="微软雅黑" panose="020B0503020204020204" pitchFamily="34" charset="-122"/>
              </a:rPr>
              <a:t>被推翻</a:t>
            </a:r>
            <a:endParaRPr sz="650" b="1" i="0">
              <a:solidFill>
                <a:srgbClr val="DC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1060" y="31546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lang="zh-CN" sz="1000" b="1">
                <a:solidFill>
                  <a:srgbClr val="7C3AED"/>
                </a:solidFill>
                <a:latin typeface="微软雅黑" panose="020B0503020204020204" pitchFamily="34" charset="-122"/>
              </a:rPr>
              <a:t>审核</a:t>
            </a:r>
            <a:r>
              <a:rPr sz="1000" b="1">
                <a:solidFill>
                  <a:srgbClr val="7C3AED"/>
                </a:solidFill>
                <a:latin typeface="微软雅黑" panose="020B0503020204020204" pitchFamily="34" charset="-122"/>
              </a:rPr>
              <a:t> H2</a:t>
            </a:r>
            <a:endParaRPr sz="1000" b="1">
              <a:solidFill>
                <a:srgbClr val="7C3AED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来源可信: 同一</a:t>
            </a:r>
            <a:r>
              <a:rPr lang="en-US" sz="800">
                <a:solidFill>
                  <a:srgbClr val="334155"/>
                </a:solidFill>
                <a:latin typeface="微软雅黑" panose="020B0503020204020204" pitchFamily="34" charset="-122"/>
              </a:rPr>
              <a:t> cor</a:t>
            </a:r>
            <a:r>
              <a:rPr lang="en-US" sz="800">
                <a:solidFill>
                  <a:srgbClr val="334155"/>
                </a:solidFill>
                <a:latin typeface="微软雅黑" panose="020B0503020204020204" pitchFamily="34" charset="-122"/>
              </a:rPr>
              <a:t>rId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payment 原始日志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Diamond 26"/>
          <p:cNvSpPr/>
          <p:nvPr/>
        </p:nvSpPr>
        <p:spPr>
          <a:xfrm>
            <a:off x="2781300" y="3154679"/>
            <a:ext cx="1097280" cy="731520"/>
          </a:xfrm>
          <a:prstGeom prst="diamond">
            <a:avLst/>
          </a:prstGeom>
          <a:solidFill>
            <a:srgbClr val="FFE0B2"/>
          </a:solidFill>
          <a:ln w="12700">
            <a:solidFill>
              <a:srgbClr val="FF5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000" b="1">
                <a:solidFill>
                  <a:srgbClr val="FF5722"/>
                </a:solidFill>
                <a:latin typeface="微软雅黑" panose="020B0503020204020204" pitchFamily="34" charset="-122"/>
              </a:rPr>
              <a:t>证据充分?</a:t>
            </a:r>
            <a:endParaRPr sz="1000" b="1">
              <a:solidFill>
                <a:srgbClr val="FF572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322445" y="3213100"/>
            <a:ext cx="1476375" cy="67437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6A34A"/>
                </a:solidFill>
                <a:latin typeface="微软雅黑" panose="020B0503020204020204" pitchFamily="34" charset="-122"/>
              </a:rPr>
              <a:t>输出结论</a:t>
            </a:r>
            <a:endParaRPr sz="1000" b="1">
              <a:solidFill>
                <a:srgbClr val="16A34A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下单失败归因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payment 响应超 order 阈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3</a:t>
            </a:r>
            <a:r>
              <a:rPr lang="en-US" sz="800">
                <a:solidFill>
                  <a:srgbClr val="334155"/>
                </a:solidFill>
                <a:latin typeface="微软雅黑" panose="020B0503020204020204" pitchFamily="34" charset="-122"/>
              </a:rPr>
              <a:t>0</a:t>
            </a:r>
            <a:r>
              <a:rPr sz="800">
                <a:solidFill>
                  <a:srgbClr val="334155"/>
                </a:solidFill>
                <a:latin typeface="微软雅黑" panose="020B0503020204020204" pitchFamily="34" charset="-122"/>
              </a:rPr>
              <a:t>s 超时阈值</a:t>
            </a:r>
            <a:endParaRPr sz="80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060440" y="3168015"/>
            <a:ext cx="1525270" cy="70866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6A34A"/>
                </a:solidFill>
                <a:latin typeface="微软雅黑" panose="020B0503020204020204" pitchFamily="34" charset="-122"/>
              </a:rPr>
              <a:t>后续动作</a:t>
            </a:r>
            <a:endParaRPr sz="1000" b="1">
              <a:solidFill>
                <a:srgbClr val="16A34A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lang="en-US" sz="80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diggy</a:t>
            </a:r>
            <a:r>
              <a:rPr lang="zh-CN" altLang="en-US" sz="80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提供建议</a:t>
            </a:r>
            <a:endParaRPr lang="zh-CN" altLang="en-US" sz="80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2433828" y="3456432"/>
            <a:ext cx="329183" cy="128016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3896995" y="3456305"/>
            <a:ext cx="367665" cy="128270"/>
          </a:xfrm>
          <a:prstGeom prst="right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5817107" y="3456432"/>
            <a:ext cx="237743" cy="128016"/>
          </a:xfrm>
          <a:prstGeom prst="right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32860" y="327355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  <a:latin typeface="微软雅黑" panose="020B0503020204020204" pitchFamily="34" charset="-122"/>
              </a:rPr>
              <a:t>是</a:t>
            </a:r>
            <a:endParaRPr sz="900" b="1" i="0">
              <a:solidFill>
                <a:srgbClr val="16A34A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184910" y="4462018"/>
            <a:ext cx="2011680" cy="438912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6B7280"/>
                </a:solidFill>
                <a:latin typeface="微软雅黑" panose="020B0503020204020204" pitchFamily="34" charset="-122"/>
              </a:rPr>
              <a:t>H3 网络抖动?</a:t>
            </a:r>
            <a:endParaRPr sz="950" b="1">
              <a:solidFill>
                <a:srgbClr val="6B7280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750">
                <a:solidFill>
                  <a:srgbClr val="334155"/>
                </a:solidFill>
                <a:latin typeface="微软雅黑" panose="020B0503020204020204" pitchFamily="34" charset="-122"/>
              </a:rPr>
              <a:t>查询失败到 payment</a:t>
            </a:r>
            <a:endParaRPr sz="75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750">
                <a:solidFill>
                  <a:srgbClr val="334155"/>
                </a:solidFill>
                <a:latin typeface="微软雅黑" panose="020B0503020204020204" pitchFamily="34" charset="-122"/>
              </a:rPr>
              <a:t>RTT, 丢包, 连接池等待</a:t>
            </a:r>
            <a:endParaRPr sz="75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379470" y="4462018"/>
            <a:ext cx="2011680" cy="438912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6B7280"/>
                </a:solidFill>
                <a:latin typeface="微软雅黑" panose="020B0503020204020204" pitchFamily="34" charset="-122"/>
              </a:rPr>
              <a:t>H4 服务重启?</a:t>
            </a:r>
            <a:endParaRPr sz="950" b="1">
              <a:solidFill>
                <a:srgbClr val="6B7280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750">
                <a:solidFill>
                  <a:srgbClr val="334155"/>
                </a:solidFill>
                <a:latin typeface="微软雅黑" panose="020B0503020204020204" pitchFamily="34" charset="-122"/>
              </a:rPr>
              <a:t>查部署事件, pod 重启,</a:t>
            </a:r>
            <a:endParaRPr sz="75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750">
                <a:solidFill>
                  <a:srgbClr val="334155"/>
                </a:solidFill>
                <a:latin typeface="微软雅黑" panose="020B0503020204020204" pitchFamily="34" charset="-122"/>
              </a:rPr>
              <a:t>冷启动时间</a:t>
            </a:r>
            <a:endParaRPr sz="75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574030" y="4462018"/>
            <a:ext cx="2011680" cy="438912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6B7280"/>
                </a:solidFill>
                <a:latin typeface="微软雅黑" panose="020B0503020204020204" pitchFamily="34" charset="-122"/>
              </a:rPr>
              <a:t>H5 下游依赖慢?</a:t>
            </a:r>
            <a:endParaRPr sz="950" b="1">
              <a:solidFill>
                <a:srgbClr val="6B7280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750">
                <a:solidFill>
                  <a:srgbClr val="334155"/>
                </a:solidFill>
                <a:latin typeface="微软雅黑" panose="020B0503020204020204" pitchFamily="34" charset="-122"/>
              </a:rPr>
              <a:t>查 payment → risk-score</a:t>
            </a:r>
            <a:endParaRPr sz="75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05000"/>
              </a:lnSpc>
            </a:pPr>
            <a:r>
              <a:rPr sz="750">
                <a:solidFill>
                  <a:srgbClr val="334155"/>
                </a:solidFill>
                <a:latin typeface="微软雅黑" panose="020B0503020204020204" pitchFamily="34" charset="-122"/>
              </a:rPr>
              <a:t>/ bank / db 的 span</a:t>
            </a:r>
            <a:endParaRPr sz="75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Down Arrow 40"/>
          <p:cNvSpPr/>
          <p:nvPr/>
        </p:nvSpPr>
        <p:spPr>
          <a:xfrm>
            <a:off x="3265805" y="3904615"/>
            <a:ext cx="128270" cy="476885"/>
          </a:xfrm>
          <a:prstGeom prst="down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51225" y="4051935"/>
            <a:ext cx="147193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微软雅黑" panose="020B0503020204020204" pitchFamily="34" charset="-122"/>
              </a:rPr>
              <a:t>否</a:t>
            </a:r>
            <a:r>
              <a:rPr lang="zh-CN" sz="1000" b="1" i="0">
                <a:solidFill>
                  <a:srgbClr val="DC2626"/>
                </a:solidFill>
                <a:latin typeface="微软雅黑" panose="020B0503020204020204" pitchFamily="34" charset="-122"/>
              </a:rPr>
              <a:t>，</a:t>
            </a:r>
            <a:r>
              <a:rPr sz="1000" b="1">
                <a:solidFill>
                  <a:srgbClr val="FF5722"/>
                </a:solidFill>
                <a:latin typeface="微软雅黑" panose="020B0503020204020204" pitchFamily="34" charset="-122"/>
                <a:sym typeface="+mn-ea"/>
              </a:rPr>
              <a:t> 继续逐轮取证</a:t>
            </a:r>
            <a:endParaRPr sz="1000" b="1">
              <a:solidFill>
                <a:srgbClr val="FF5722"/>
              </a:solidFill>
              <a:latin typeface="微软雅黑" panose="020B0503020204020204" pitchFamily="34" charset="-122"/>
              <a:sym typeface="+mn-ea"/>
            </a:endParaRPr>
          </a:p>
          <a:p>
            <a:pPr algn="l"/>
            <a:r>
              <a:rPr lang="zh-CN" sz="1000" b="1">
                <a:solidFill>
                  <a:srgbClr val="FF5722"/>
                </a:solidFill>
                <a:latin typeface="微软雅黑" panose="020B0503020204020204" pitchFamily="34" charset="-122"/>
              </a:rPr>
              <a:t>或者达到</a:t>
            </a:r>
            <a:r>
              <a:rPr lang="en-US" altLang="zh-CN" sz="1000" b="1">
                <a:solidFill>
                  <a:srgbClr val="FF5722"/>
                </a:solidFill>
                <a:latin typeface="微软雅黑" panose="020B0503020204020204" pitchFamily="34" charset="-122"/>
              </a:rPr>
              <a:t>maxturn</a:t>
            </a:r>
            <a:r>
              <a:rPr lang="zh-CN" altLang="en-US" sz="1000" b="1">
                <a:solidFill>
                  <a:srgbClr val="FF5722"/>
                </a:solidFill>
                <a:latin typeface="微软雅黑" panose="020B0503020204020204" pitchFamily="34" charset="-122"/>
              </a:rPr>
              <a:t>输出</a:t>
            </a:r>
            <a:endParaRPr sz="1000" b="1">
              <a:solidFill>
                <a:srgbClr val="FF5722"/>
              </a:solidFill>
              <a:latin typeface="微软雅黑" panose="020B0503020204020204" pitchFamily="34" charset="-122"/>
            </a:endParaRPr>
          </a:p>
          <a:p>
            <a:pPr algn="l"/>
            <a:endParaRPr sz="1000" b="1" i="0">
              <a:solidFill>
                <a:srgbClr val="DC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Right Arrow 29"/>
          <p:cNvSpPr/>
          <p:nvPr/>
        </p:nvSpPr>
        <p:spPr>
          <a:xfrm>
            <a:off x="1802765" y="1346835"/>
            <a:ext cx="346710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5" name="Right Arrow 29"/>
          <p:cNvSpPr/>
          <p:nvPr/>
        </p:nvSpPr>
        <p:spPr>
          <a:xfrm>
            <a:off x="3527425" y="1346835"/>
            <a:ext cx="341630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6" name="Right Arrow 29"/>
          <p:cNvSpPr/>
          <p:nvPr/>
        </p:nvSpPr>
        <p:spPr>
          <a:xfrm>
            <a:off x="5352415" y="1346835"/>
            <a:ext cx="289560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7" name="Right Arrow 29"/>
          <p:cNvSpPr/>
          <p:nvPr/>
        </p:nvSpPr>
        <p:spPr>
          <a:xfrm>
            <a:off x="7051040" y="1346835"/>
            <a:ext cx="323850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8" name="Right Arrow 29"/>
          <p:cNvSpPr/>
          <p:nvPr/>
        </p:nvSpPr>
        <p:spPr>
          <a:xfrm>
            <a:off x="95250" y="2441575"/>
            <a:ext cx="198755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49" name="Right Arrow 29"/>
          <p:cNvSpPr/>
          <p:nvPr/>
        </p:nvSpPr>
        <p:spPr>
          <a:xfrm>
            <a:off x="1826260" y="2450465"/>
            <a:ext cx="299085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0" name="Right Arrow 29"/>
          <p:cNvSpPr/>
          <p:nvPr/>
        </p:nvSpPr>
        <p:spPr>
          <a:xfrm>
            <a:off x="3637280" y="2441575"/>
            <a:ext cx="259080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1" name="Right Arrow 29"/>
          <p:cNvSpPr/>
          <p:nvPr/>
        </p:nvSpPr>
        <p:spPr>
          <a:xfrm>
            <a:off x="5434330" y="2468880"/>
            <a:ext cx="287020" cy="107315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2" name="Right Arrow 29"/>
          <p:cNvSpPr/>
          <p:nvPr/>
        </p:nvSpPr>
        <p:spPr>
          <a:xfrm>
            <a:off x="7019925" y="2454910"/>
            <a:ext cx="389255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3" name="Right Arrow 29"/>
          <p:cNvSpPr/>
          <p:nvPr/>
        </p:nvSpPr>
        <p:spPr>
          <a:xfrm>
            <a:off x="552450" y="3456305"/>
            <a:ext cx="198755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4" name="Right Arrow 29"/>
          <p:cNvSpPr/>
          <p:nvPr/>
        </p:nvSpPr>
        <p:spPr>
          <a:xfrm rot="16200000">
            <a:off x="2686685" y="821690"/>
            <a:ext cx="280670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57" name="Text 0"/>
          <p:cNvSpPr/>
          <p:nvPr/>
        </p:nvSpPr>
        <p:spPr>
          <a:xfrm>
            <a:off x="457200" y="914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M2  /  </a:t>
            </a:r>
            <a:r>
              <a:rPr lang="zh-CN" alt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锚点诊断（以下单支付失败</a:t>
            </a:r>
            <a:r>
              <a:rPr lang="zh-CN" alt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为例）</a:t>
            </a:r>
            <a:endParaRPr lang="zh-CN" altLang="en-US" sz="1100" b="1" kern="0" spc="300" dirty="0">
              <a:solidFill>
                <a:srgbClr val="FF57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" name="TextBox 24"/>
          <p:cNvSpPr txBox="1"/>
          <p:nvPr/>
        </p:nvSpPr>
        <p:spPr>
          <a:xfrm>
            <a:off x="4224655" y="1047750"/>
            <a:ext cx="1032510" cy="155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850" b="1" i="0">
                <a:solidFill>
                  <a:srgbClr val="DC2626"/>
                </a:solidFill>
                <a:latin typeface="微软雅黑" panose="020B0503020204020204" pitchFamily="34" charset="-122"/>
              </a:rPr>
              <a:t>load memory</a:t>
            </a:r>
            <a:endParaRPr lang="en-US" sz="850" b="1" i="0">
              <a:solidFill>
                <a:srgbClr val="DC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4"/>
          <p:cNvSpPr txBox="1"/>
          <p:nvPr/>
        </p:nvSpPr>
        <p:spPr>
          <a:xfrm>
            <a:off x="4784725" y="3184525"/>
            <a:ext cx="1032510" cy="155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850" b="1" i="0">
                <a:solidFill>
                  <a:srgbClr val="DC2626"/>
                </a:solidFill>
                <a:latin typeface="微软雅黑" panose="020B0503020204020204" pitchFamily="34" charset="-122"/>
              </a:rPr>
              <a:t>write memory</a:t>
            </a:r>
            <a:endParaRPr lang="en-US" sz="850" b="1" i="0">
              <a:solidFill>
                <a:srgbClr val="DC262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870"/>
            <a:ext cx="3383915" cy="217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</a:t>
            </a: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vibe coding</a:t>
            </a: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/ How to harness</a:t>
            </a:r>
            <a:endParaRPr lang="en-US" sz="1100" b="1" kern="0" spc="300" dirty="0">
              <a:solidFill>
                <a:srgbClr val="FF57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30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coding harness</a:t>
            </a:r>
            <a:r>
              <a:rPr lang="zh-CN" altLang="en-US" sz="30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：</a:t>
            </a:r>
            <a:r>
              <a:rPr lang="en-US" altLang="zh-CN" sz="30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hx cli</a:t>
            </a:r>
            <a:endParaRPr lang="en-US" sz="3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62" name="Rounded Rectangle 4"/>
          <p:cNvSpPr/>
          <p:nvPr>
            <p:custDataLst>
              <p:tags r:id="rId1"/>
            </p:custDataLst>
          </p:nvPr>
        </p:nvSpPr>
        <p:spPr>
          <a:xfrm>
            <a:off x="274320" y="1930400"/>
            <a:ext cx="2697480" cy="100584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"/>
          <p:cNvSpPr txBox="1"/>
          <p:nvPr>
            <p:custDataLst>
              <p:tags r:id="rId2"/>
            </p:custDataLst>
          </p:nvPr>
        </p:nvSpPr>
        <p:spPr>
          <a:xfrm>
            <a:off x="411479" y="2131568"/>
            <a:ext cx="242316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1">
                <a:solidFill>
                  <a:srgbClr val="7C3AED"/>
                </a:solidFill>
                <a:latin typeface="微软雅黑" panose="020B0503020204020204" pitchFamily="34" charset="-122"/>
                <a:sym typeface="+mn-ea"/>
              </a:rPr>
              <a:t>入口</a:t>
            </a:r>
            <a:r>
              <a:rPr lang="zh-CN" sz="1500" b="1">
                <a:solidFill>
                  <a:srgbClr val="7C3AED"/>
                </a:solidFill>
                <a:latin typeface="微软雅黑" panose="020B0503020204020204" pitchFamily="34" charset="-122"/>
                <a:sym typeface="+mn-ea"/>
              </a:rPr>
              <a:t>收敛</a:t>
            </a:r>
            <a:endParaRPr lang="zh-CN" sz="1500" b="1">
              <a:solidFill>
                <a:srgbClr val="7C3AED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67" name="TextBox 7"/>
          <p:cNvSpPr txBox="1"/>
          <p:nvPr>
            <p:custDataLst>
              <p:tags r:id="rId3"/>
            </p:custDataLst>
          </p:nvPr>
        </p:nvSpPr>
        <p:spPr>
          <a:xfrm>
            <a:off x="411479" y="2479040"/>
            <a:ext cx="242316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000" b="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hx go </a:t>
            </a:r>
            <a:r>
              <a:rPr lang="en-US" altLang="zh-CN" sz="1000" b="0">
                <a:solidFill>
                  <a:srgbClr val="334155"/>
                </a:solidFill>
                <a:latin typeface="微软雅黑" panose="020B0503020204020204" pitchFamily="34" charset="-122"/>
              </a:rPr>
              <a:t>- </a:t>
            </a:r>
            <a:r>
              <a:rPr lang="zh-CN" alt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任务前准备，</a:t>
            </a:r>
            <a:r>
              <a:rPr lang="zh-CN" altLang="en-US" sz="1000" b="0">
                <a:solidFill>
                  <a:srgbClr val="334155"/>
                </a:solidFill>
                <a:latin typeface="微软雅黑" panose="020B0503020204020204" pitchFamily="34" charset="-122"/>
                <a:hlinkClick r:id="rId4" action="ppaction://hlinksldjump"/>
              </a:rPr>
              <a:t>领取任务卡</a:t>
            </a:r>
            <a:endParaRPr lang="zh-CN" altLang="en-US"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l"/>
            <a:endParaRPr lang="zh-CN" altLang="en-US"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70" name="Rounded Rectangle 8"/>
          <p:cNvSpPr/>
          <p:nvPr>
            <p:custDataLst>
              <p:tags r:id="rId5"/>
            </p:custDataLst>
          </p:nvPr>
        </p:nvSpPr>
        <p:spPr>
          <a:xfrm>
            <a:off x="3200400" y="1930400"/>
            <a:ext cx="2697480" cy="100584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10"/>
          <p:cNvSpPr txBox="1"/>
          <p:nvPr>
            <p:custDataLst>
              <p:tags r:id="rId6"/>
            </p:custDataLst>
          </p:nvPr>
        </p:nvSpPr>
        <p:spPr>
          <a:xfrm>
            <a:off x="3337560" y="2131568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 panose="020B0503020204020204" pitchFamily="34" charset="-122"/>
              </a:rPr>
              <a:t>上下文收敛</a:t>
            </a:r>
            <a:endParaRPr sz="1500" b="1">
              <a:solidFill>
                <a:srgbClr val="2563EB"/>
              </a:solidFill>
              <a:latin typeface="微软雅黑" panose="020B0503020204020204" pitchFamily="34" charset="-122"/>
            </a:endParaRPr>
          </a:p>
        </p:txBody>
      </p:sp>
      <p:sp>
        <p:nvSpPr>
          <p:cNvPr id="73" name="TextBox 11"/>
          <p:cNvSpPr txBox="1"/>
          <p:nvPr>
            <p:custDataLst>
              <p:tags r:id="rId7"/>
            </p:custDataLst>
          </p:nvPr>
        </p:nvSpPr>
        <p:spPr>
          <a:xfrm>
            <a:off x="3337560" y="2479040"/>
            <a:ext cx="242316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000">
                <a:solidFill>
                  <a:srgbClr val="334155"/>
                </a:solidFill>
                <a:latin typeface="微软雅黑" panose="020B0503020204020204" pitchFamily="34" charset="-122"/>
                <a:sym typeface="+mn-ea"/>
              </a:rPr>
              <a:t>hx task start - </a:t>
            </a:r>
            <a:r>
              <a:rPr lang="zh-CN" altLang="en-US" sz="1000">
                <a:solidFill>
                  <a:srgbClr val="334155"/>
                </a:solidFill>
                <a:latin typeface="微软雅黑" panose="020B0503020204020204" pitchFamily="34" charset="-122"/>
                <a:sym typeface="+mn-ea"/>
              </a:rPr>
              <a:t>开</a:t>
            </a:r>
            <a:r>
              <a:rPr lang="en-US" altLang="zh-CN" sz="1000">
                <a:solidFill>
                  <a:srgbClr val="334155"/>
                </a:solidFill>
                <a:latin typeface="微软雅黑" panose="020B0503020204020204" pitchFamily="34" charset="-122"/>
                <a:sym typeface="+mn-ea"/>
              </a:rPr>
              <a:t>worktree, </a:t>
            </a:r>
            <a:r>
              <a:rPr lang="zh-CN" altLang="en-US" sz="1000">
                <a:solidFill>
                  <a:srgbClr val="334155"/>
                </a:solidFill>
                <a:latin typeface="微软雅黑" panose="020B0503020204020204" pitchFamily="34" charset="-122"/>
                <a:sym typeface="+mn-ea"/>
              </a:rPr>
              <a:t>解析上下文</a:t>
            </a:r>
            <a:r>
              <a:rPr lang="en-US" altLang="zh-CN" sz="1000">
                <a:solidFill>
                  <a:srgbClr val="334155"/>
                </a:solidFill>
                <a:latin typeface="微软雅黑" panose="020B0503020204020204" pitchFamily="34" charset="-122"/>
                <a:sym typeface="+mn-ea"/>
              </a:rPr>
              <a:t>..</a:t>
            </a:r>
            <a:endParaRPr lang="zh-CN" altLang="en-US" sz="1000">
              <a:solidFill>
                <a:srgbClr val="334155"/>
              </a:solidFill>
              <a:latin typeface="微软雅黑" panose="020B0503020204020204" pitchFamily="34" charset="-122"/>
              <a:sym typeface="+mn-ea"/>
            </a:endParaRPr>
          </a:p>
          <a:p>
            <a:pPr algn="l"/>
            <a:r>
              <a:rPr lang="en-US" altLang="zh-CN" sz="1000">
                <a:solidFill>
                  <a:srgbClr val="334155"/>
                </a:solidFill>
                <a:latin typeface="微软雅黑" panose="020B0503020204020204" pitchFamily="34" charset="-122"/>
                <a:sym typeface="+mn-ea"/>
              </a:rPr>
              <a:t>hx spec &lt;id&gt;- </a:t>
            </a:r>
            <a:r>
              <a:rPr lang="zh-CN" altLang="en-US" sz="1000">
                <a:solidFill>
                  <a:srgbClr val="334155"/>
                </a:solidFill>
                <a:latin typeface="微软雅黑" panose="020B0503020204020204" pitchFamily="34" charset="-122"/>
                <a:sym typeface="+mn-ea"/>
              </a:rPr>
              <a:t>查询对应</a:t>
            </a:r>
            <a:r>
              <a:rPr lang="zh-CN" altLang="en-US" sz="1000">
                <a:solidFill>
                  <a:srgbClr val="334155"/>
                </a:solidFill>
                <a:latin typeface="微软雅黑" panose="020B0503020204020204" pitchFamily="34" charset="-122"/>
                <a:sym typeface="+mn-ea"/>
              </a:rPr>
              <a:t>内容</a:t>
            </a:r>
            <a:endParaRPr lang="zh-CN" altLang="en-US" sz="1000">
              <a:solidFill>
                <a:srgbClr val="334155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74" name="Rounded Rectangle 12"/>
          <p:cNvSpPr/>
          <p:nvPr>
            <p:custDataLst>
              <p:tags r:id="rId8"/>
            </p:custDataLst>
          </p:nvPr>
        </p:nvSpPr>
        <p:spPr>
          <a:xfrm>
            <a:off x="3230245" y="3223260"/>
            <a:ext cx="2697480" cy="100584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14"/>
          <p:cNvSpPr txBox="1"/>
          <p:nvPr>
            <p:custDataLst>
              <p:tags r:id="rId9"/>
            </p:custDataLst>
          </p:nvPr>
        </p:nvSpPr>
        <p:spPr>
          <a:xfrm>
            <a:off x="3367405" y="3424428"/>
            <a:ext cx="242316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微软雅黑" panose="020B0503020204020204" pitchFamily="34" charset="-122"/>
              </a:rPr>
              <a:t>质量把控</a:t>
            </a:r>
            <a:endParaRPr sz="1500" b="1">
              <a:solidFill>
                <a:srgbClr val="16A34A"/>
              </a:solidFill>
              <a:latin typeface="微软雅黑" panose="020B0503020204020204" pitchFamily="34" charset="-122"/>
            </a:endParaRPr>
          </a:p>
        </p:txBody>
      </p:sp>
      <p:sp>
        <p:nvSpPr>
          <p:cNvPr id="77" name="TextBox 15"/>
          <p:cNvSpPr txBox="1"/>
          <p:nvPr>
            <p:custDataLst>
              <p:tags r:id="rId10"/>
            </p:custDataLst>
          </p:nvPr>
        </p:nvSpPr>
        <p:spPr>
          <a:xfrm>
            <a:off x="3367405" y="3771900"/>
            <a:ext cx="242316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hx check</a:t>
            </a:r>
            <a:r>
              <a:rPr 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 - </a:t>
            </a:r>
            <a:r>
              <a:rPr lang="zh-CN" alt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完成任务之后必跑</a:t>
            </a:r>
            <a:endParaRPr lang="zh-CN" altLang="en-US"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l"/>
            <a:r>
              <a:rPr lang="en-US" altLang="zh-CN" sz="1000" b="0">
                <a:solidFill>
                  <a:srgbClr val="334155"/>
                </a:solidFill>
                <a:latin typeface="微软雅黑" panose="020B0503020204020204" pitchFamily="34" charset="-122"/>
              </a:rPr>
              <a:t>hx eval</a:t>
            </a:r>
            <a:r>
              <a:rPr lang="zh-CN" alt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000" b="0">
                <a:solidFill>
                  <a:srgbClr val="334155"/>
                </a:solidFill>
                <a:latin typeface="微软雅黑" panose="020B0503020204020204" pitchFamily="34" charset="-122"/>
              </a:rPr>
              <a:t>- </a:t>
            </a:r>
            <a:r>
              <a:rPr lang="zh-CN" alt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修改</a:t>
            </a:r>
            <a:r>
              <a:rPr lang="en-US" altLang="zh-CN" sz="1000" b="0">
                <a:solidFill>
                  <a:srgbClr val="334155"/>
                </a:solidFill>
                <a:latin typeface="微软雅黑" panose="020B0503020204020204" pitchFamily="34" charset="-122"/>
              </a:rPr>
              <a:t>prompt</a:t>
            </a:r>
            <a:r>
              <a:rPr lang="zh-CN" alt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之后必跑</a:t>
            </a:r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 </a:t>
            </a:r>
            <a:endParaRPr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78" name="Rounded Rectangle 16"/>
          <p:cNvSpPr/>
          <p:nvPr>
            <p:custDataLst>
              <p:tags r:id="rId11"/>
            </p:custDataLst>
          </p:nvPr>
        </p:nvSpPr>
        <p:spPr>
          <a:xfrm>
            <a:off x="6186170" y="1887982"/>
            <a:ext cx="2697480" cy="1005840"/>
          </a:xfrm>
          <a:prstGeom prst="roundRect">
            <a:avLst>
              <a:gd name="adj" fmla="val 20000"/>
            </a:avLst>
          </a:prstGeom>
          <a:solidFill>
            <a:srgbClr val="FFE0B2"/>
          </a:solidFill>
          <a:ln w="9525">
            <a:solidFill>
              <a:srgbClr val="FF5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18"/>
          <p:cNvSpPr txBox="1"/>
          <p:nvPr>
            <p:custDataLst>
              <p:tags r:id="rId12"/>
            </p:custDataLst>
          </p:nvPr>
        </p:nvSpPr>
        <p:spPr>
          <a:xfrm>
            <a:off x="6323329" y="2131695"/>
            <a:ext cx="242316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1">
                <a:solidFill>
                  <a:srgbClr val="FF5722"/>
                </a:solidFill>
                <a:latin typeface="微软雅黑" panose="020B0503020204020204" pitchFamily="34" charset="-122"/>
              </a:rPr>
              <a:t>用例</a:t>
            </a:r>
            <a:r>
              <a:rPr lang="zh-CN" sz="1500" b="1">
                <a:solidFill>
                  <a:srgbClr val="FF5722"/>
                </a:solidFill>
                <a:latin typeface="微软雅黑" panose="020B0503020204020204" pitchFamily="34" charset="-122"/>
              </a:rPr>
              <a:t>先行</a:t>
            </a:r>
            <a:endParaRPr lang="zh-CN" sz="1500" b="1">
              <a:solidFill>
                <a:srgbClr val="FF5722"/>
              </a:solidFill>
              <a:latin typeface="微软雅黑" panose="020B0503020204020204" pitchFamily="34" charset="-122"/>
            </a:endParaRPr>
          </a:p>
        </p:txBody>
      </p:sp>
      <p:sp>
        <p:nvSpPr>
          <p:cNvPr id="81" name="TextBox 19"/>
          <p:cNvSpPr txBox="1"/>
          <p:nvPr>
            <p:custDataLst>
              <p:tags r:id="rId13"/>
            </p:custDataLst>
          </p:nvPr>
        </p:nvSpPr>
        <p:spPr>
          <a:xfrm>
            <a:off x="6323329" y="2479167"/>
            <a:ext cx="242316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000" b="0">
                <a:solidFill>
                  <a:srgbClr val="334155"/>
                </a:solidFill>
                <a:latin typeface="微软雅黑" panose="020B0503020204020204" pitchFamily="34" charset="-122"/>
              </a:rPr>
              <a:t>hx testgen &lt;module&gt; - </a:t>
            </a:r>
            <a:r>
              <a:rPr lang="zh-CN" alt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生成测试</a:t>
            </a:r>
            <a:r>
              <a:rPr lang="zh-CN" alt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用例</a:t>
            </a:r>
            <a:endParaRPr lang="zh-CN" altLang="en-US"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82" name="Rounded Rectangle 20"/>
          <p:cNvSpPr/>
          <p:nvPr>
            <p:custDataLst>
              <p:tags r:id="rId14"/>
            </p:custDataLst>
          </p:nvPr>
        </p:nvSpPr>
        <p:spPr>
          <a:xfrm>
            <a:off x="274320" y="3223387"/>
            <a:ext cx="2697480" cy="100584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22"/>
          <p:cNvSpPr txBox="1"/>
          <p:nvPr>
            <p:custDataLst>
              <p:tags r:id="rId15"/>
            </p:custDataLst>
          </p:nvPr>
        </p:nvSpPr>
        <p:spPr>
          <a:xfrm>
            <a:off x="411480" y="3424555"/>
            <a:ext cx="242316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1">
                <a:solidFill>
                  <a:srgbClr val="F59E0B"/>
                </a:solidFill>
                <a:latin typeface="微软雅黑" panose="020B0503020204020204" pitchFamily="34" charset="-122"/>
              </a:rPr>
              <a:t>冲突</a:t>
            </a:r>
            <a:r>
              <a:rPr lang="zh-CN" sz="1500" b="1">
                <a:solidFill>
                  <a:srgbClr val="F59E0B"/>
                </a:solidFill>
                <a:latin typeface="微软雅黑" panose="020B0503020204020204" pitchFamily="34" charset="-122"/>
              </a:rPr>
              <a:t>解决</a:t>
            </a:r>
            <a:endParaRPr lang="zh-CN" sz="1500" b="1">
              <a:solidFill>
                <a:srgbClr val="F59E0B"/>
              </a:solidFill>
              <a:latin typeface="微软雅黑" panose="020B0503020204020204" pitchFamily="34" charset="-122"/>
            </a:endParaRPr>
          </a:p>
        </p:txBody>
      </p:sp>
      <p:sp>
        <p:nvSpPr>
          <p:cNvPr id="85" name="TextBox 23"/>
          <p:cNvSpPr txBox="1"/>
          <p:nvPr>
            <p:custDataLst>
              <p:tags r:id="rId16"/>
            </p:custDataLst>
          </p:nvPr>
        </p:nvSpPr>
        <p:spPr>
          <a:xfrm>
            <a:off x="411480" y="3772027"/>
            <a:ext cx="242316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000" b="0">
                <a:solidFill>
                  <a:srgbClr val="334155"/>
                </a:solidFill>
                <a:latin typeface="微软雅黑" panose="020B0503020204020204" pitchFamily="34" charset="-122"/>
              </a:rPr>
              <a:t>hx task resync - </a:t>
            </a:r>
            <a:r>
              <a:rPr lang="zh-CN" alt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解决代码</a:t>
            </a:r>
            <a:r>
              <a:rPr lang="zh-CN" alt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冲突</a:t>
            </a:r>
            <a:endParaRPr lang="zh-CN" altLang="en-US"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86" name="Rounded Rectangle 24"/>
          <p:cNvSpPr/>
          <p:nvPr>
            <p:custDataLst>
              <p:tags r:id="rId17"/>
            </p:custDataLst>
          </p:nvPr>
        </p:nvSpPr>
        <p:spPr>
          <a:xfrm>
            <a:off x="6186170" y="3217037"/>
            <a:ext cx="2697480" cy="100584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26"/>
          <p:cNvSpPr txBox="1"/>
          <p:nvPr>
            <p:custDataLst>
              <p:tags r:id="rId18"/>
            </p:custDataLst>
          </p:nvPr>
        </p:nvSpPr>
        <p:spPr>
          <a:xfrm>
            <a:off x="6323330" y="3418205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微软雅黑" panose="020B0503020204020204" pitchFamily="34" charset="-122"/>
              </a:rPr>
              <a:t>全程留痕</a:t>
            </a:r>
            <a:endParaRPr sz="1500" b="1">
              <a:solidFill>
                <a:srgbClr val="DC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89" name="TextBox 27"/>
          <p:cNvSpPr txBox="1"/>
          <p:nvPr>
            <p:custDataLst>
              <p:tags r:id="rId19"/>
            </p:custDataLst>
          </p:nvPr>
        </p:nvSpPr>
        <p:spPr>
          <a:xfrm>
            <a:off x="6323330" y="3765677"/>
            <a:ext cx="242316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000" b="0">
                <a:solidFill>
                  <a:srgbClr val="334155"/>
                </a:solidFill>
                <a:latin typeface="微软雅黑" panose="020B0503020204020204" pitchFamily="34" charset="-122"/>
              </a:rPr>
              <a:t>hx task done - </a:t>
            </a:r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DoD 报告 + 署名 commit</a:t>
            </a:r>
            <a:endParaRPr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1" name="Text 1"/>
          <p:cNvSpPr/>
          <p:nvPr/>
        </p:nvSpPr>
        <p:spPr>
          <a:xfrm>
            <a:off x="1617980" y="4356100"/>
            <a:ext cx="607758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不是让模型更听话，而是让流程不依赖模型听话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3" name="Text 1"/>
          <p:cNvSpPr/>
          <p:nvPr/>
        </p:nvSpPr>
        <p:spPr>
          <a:xfrm>
            <a:off x="1617980" y="3637280"/>
            <a:ext cx="607758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411480" y="126873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en-US" altLang="zh-CN" sz="20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project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0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harness framework</a:t>
            </a:r>
            <a:endParaRPr lang="en-US" altLang="zh-CN" sz="20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1" grpId="1"/>
      <p:bldP spid="93" grpId="0"/>
      <p:bldP spid="9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Rounded Rectangle 18"/>
          <p:cNvSpPr/>
          <p:nvPr/>
        </p:nvSpPr>
        <p:spPr>
          <a:xfrm>
            <a:off x="274320" y="1136904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13690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LLM  /  运行时动作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348355" y="1136650"/>
            <a:ext cx="2263775" cy="274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08985" y="1159510"/>
            <a:ext cx="217551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Runtime Harness Gates</a:t>
            </a:r>
            <a:endParaRPr sz="1300" b="1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92240" y="1136904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13690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放行后的目标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74320" y="1541526"/>
            <a:ext cx="1920240" cy="713232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1725740"/>
            <a:ext cx="1700784" cy="344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微软雅黑" panose="020B0503020204020204" pitchFamily="34" charset="-122"/>
              </a:rPr>
              <a:t>收到请求</a:t>
            </a:r>
            <a:endParaRPr sz="95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微软雅黑" panose="020B0503020204020204" pitchFamily="34" charset="-122"/>
              </a:rPr>
              <a:t>想开始执行</a:t>
            </a:r>
            <a:endParaRPr sz="1050">
              <a:solidFill>
                <a:srgbClr val="F59E0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2420620" y="1833880"/>
            <a:ext cx="615315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71215" y="1541780"/>
            <a:ext cx="2240280" cy="713105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54095" y="1584960"/>
            <a:ext cx="2064385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微软雅黑" panose="020B0503020204020204" pitchFamily="34" charset="-122"/>
              </a:rPr>
              <a:t>Task Gate</a:t>
            </a:r>
            <a:endParaRPr sz="1100" b="1">
              <a:solidFill>
                <a:srgbClr val="7C3AED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554095" y="1779270"/>
            <a:ext cx="184467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>
                <a:solidFill>
                  <a:srgbClr val="334155"/>
                </a:solidFill>
                <a:latin typeface="微软雅黑" panose="020B0503020204020204" pitchFamily="34" charset="-122"/>
              </a:rPr>
              <a:t>submit 建目录</a:t>
            </a:r>
            <a:endParaRPr sz="85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</a:pPr>
            <a:r>
              <a:rPr sz="850">
                <a:solidFill>
                  <a:srgbClr val="334155"/>
                </a:solidFill>
                <a:latin typeface="微软雅黑" panose="020B0503020204020204" pitchFamily="34" charset="-122"/>
              </a:rPr>
              <a:t>pending  /  running  /  done</a:t>
            </a:r>
            <a:endParaRPr sz="85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</a:pPr>
            <a:endParaRPr sz="85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92240" y="1541526"/>
            <a:ext cx="2377440" cy="713232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1639697"/>
            <a:ext cx="2157984" cy="5168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Task 目录</a:t>
            </a:r>
            <a:endParaRPr sz="95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task json  /  archive</a:t>
            </a:r>
            <a:endParaRPr sz="95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异步 worker  安全执行</a:t>
            </a:r>
            <a:endParaRPr sz="95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74320" y="2348865"/>
            <a:ext cx="1920240" cy="713232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2533079"/>
            <a:ext cx="1700784" cy="344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微软雅黑" panose="020B0503020204020204" pitchFamily="34" charset="-122"/>
              </a:rPr>
              <a:t>LLM 想调工具</a:t>
            </a:r>
            <a:endParaRPr sz="95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微软雅黑" panose="020B0503020204020204" pitchFamily="34" charset="-122"/>
              </a:rPr>
              <a:t>继续排查</a:t>
            </a:r>
            <a:endParaRPr sz="95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371215" y="2348865"/>
            <a:ext cx="2255520" cy="713105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54095" y="2392680"/>
            <a:ext cx="1334135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微软雅黑" panose="020B0503020204020204" pitchFamily="34" charset="-122"/>
              </a:rPr>
              <a:t>Tool Gate</a:t>
            </a:r>
            <a:endParaRPr sz="1100" b="1">
              <a:solidFill>
                <a:srgbClr val="7C3AED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54095" y="2603500"/>
            <a:ext cx="187833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>
                <a:solidFill>
                  <a:srgbClr val="334155"/>
                </a:solidFill>
                <a:latin typeface="微软雅黑" panose="020B0503020204020204" pitchFamily="34" charset="-122"/>
              </a:rPr>
              <a:t>必须带 hypothesis + gap</a:t>
            </a:r>
            <a:endParaRPr sz="85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</a:pPr>
            <a:r>
              <a:rPr sz="850">
                <a:solidFill>
                  <a:srgbClr val="334155"/>
                </a:solidFill>
                <a:latin typeface="微软雅黑" panose="020B0503020204020204" pitchFamily="34" charset="-122"/>
              </a:rPr>
              <a:t>dry run  /  限额强制退出</a:t>
            </a:r>
            <a:endParaRPr sz="85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492240" y="2348865"/>
            <a:ext cx="2377440" cy="713232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2447036"/>
            <a:ext cx="2157984" cy="5168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受限 Tool 层</a:t>
            </a:r>
            <a:endParaRPr sz="95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ES  /  AKS  /  mock</a:t>
            </a:r>
            <a:endParaRPr sz="95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固定签名,  表外不暴露</a:t>
            </a:r>
            <a:endParaRPr sz="95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74320" y="3165729"/>
            <a:ext cx="1920240" cy="713232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3349943"/>
            <a:ext cx="1700784" cy="344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微软雅黑" panose="020B0503020204020204" pitchFamily="34" charset="-122"/>
              </a:rPr>
              <a:t>LLM 想引用证据</a:t>
            </a:r>
            <a:endParaRPr sz="95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微软雅黑" panose="020B0503020204020204" pitchFamily="34" charset="-122"/>
              </a:rPr>
              <a:t>写 root cause</a:t>
            </a:r>
            <a:endParaRPr sz="95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371215" y="3165475"/>
            <a:ext cx="2278380" cy="713105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96945" y="3209290"/>
            <a:ext cx="150114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微软雅黑" panose="020B0503020204020204" pitchFamily="34" charset="-122"/>
              </a:rPr>
              <a:t>Evidence Gate</a:t>
            </a:r>
            <a:endParaRPr sz="1100" b="1">
              <a:solidFill>
                <a:srgbClr val="7C3AED"/>
              </a:solidFill>
              <a:latin typeface="微软雅黑" panose="020B0503020204020204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496945" y="34036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>
                <a:solidFill>
                  <a:srgbClr val="334155"/>
                </a:solidFill>
                <a:latin typeface="微软雅黑" panose="020B0503020204020204" pitchFamily="34" charset="-122"/>
              </a:rPr>
              <a:t>ToolResult.doc_refs  入池</a:t>
            </a:r>
            <a:endParaRPr sz="85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</a:pPr>
            <a:r>
              <a:rPr sz="850">
                <a:solidFill>
                  <a:srgbClr val="334155"/>
                </a:solidFill>
                <a:latin typeface="微软雅黑" panose="020B0503020204020204" pitchFamily="34" charset="-122"/>
              </a:rPr>
              <a:t>不命中不入审核</a:t>
            </a:r>
            <a:endParaRPr sz="85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492240" y="3165729"/>
            <a:ext cx="2377440" cy="713232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01968" y="3263900"/>
            <a:ext cx="2157984" cy="5168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EvidencePool</a:t>
            </a:r>
            <a:endParaRPr sz="95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index + _id 快照</a:t>
            </a:r>
            <a:endParaRPr sz="95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报告 引用有出处</a:t>
            </a:r>
            <a:endParaRPr sz="1050">
              <a:solidFill>
                <a:srgbClr val="16A34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274320" y="3982593"/>
            <a:ext cx="1920240" cy="713232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4166807"/>
            <a:ext cx="1700784" cy="344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微软雅黑" panose="020B0503020204020204" pitchFamily="34" charset="-122"/>
              </a:rPr>
              <a:t>LLM 想发布报告</a:t>
            </a:r>
            <a:endParaRPr sz="95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微软雅黑" panose="020B0503020204020204" pitchFamily="34" charset="-122"/>
              </a:rPr>
              <a:t>交付给用户</a:t>
            </a:r>
            <a:endParaRPr sz="95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378200" y="3982720"/>
            <a:ext cx="2271395" cy="713105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54095" y="4026535"/>
            <a:ext cx="202438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微软雅黑" panose="020B0503020204020204" pitchFamily="34" charset="-122"/>
              </a:rPr>
              <a:t>Schema + Audit Gate</a:t>
            </a:r>
            <a:endParaRPr sz="1100" b="1">
              <a:solidFill>
                <a:srgbClr val="7C3AED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554095" y="4220210"/>
            <a:ext cx="18973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>
                <a:solidFill>
                  <a:srgbClr val="334155"/>
                </a:solidFill>
                <a:latin typeface="微软雅黑" panose="020B0503020204020204" pitchFamily="34" charset="-122"/>
              </a:rPr>
              <a:t>Pydantic schema 先过</a:t>
            </a:r>
            <a:endParaRPr sz="850">
              <a:solidFill>
                <a:srgbClr val="334155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5000"/>
              </a:lnSpc>
            </a:pPr>
            <a:r>
              <a:rPr sz="850">
                <a:solidFill>
                  <a:srgbClr val="334155"/>
                </a:solidFill>
                <a:latin typeface="微软雅黑" panose="020B0503020204020204" pitchFamily="34" charset="-122"/>
              </a:rPr>
              <a:t>audit.jsonl 全程留痕</a:t>
            </a:r>
            <a:endParaRPr sz="85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492240" y="3982593"/>
            <a:ext cx="2377440" cy="713232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01968" y="4080764"/>
            <a:ext cx="2157984" cy="5168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Report  /  Audit</a:t>
            </a:r>
            <a:endParaRPr sz="95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report.md  /  audit.jsonl</a:t>
            </a:r>
            <a:endParaRPr sz="95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18000"/>
              </a:lnSpc>
            </a:pPr>
            <a:r>
              <a:rPr sz="950">
                <a:solidFill>
                  <a:srgbClr val="334155"/>
                </a:solidFill>
                <a:latin typeface="Times New Roman" panose="02020603050405020304" charset="0"/>
                <a:cs typeface="Times New Roman" panose="02020603050405020304" charset="0"/>
              </a:rPr>
              <a:t>Slack thread</a:t>
            </a:r>
            <a:endParaRPr sz="950">
              <a:solidFill>
                <a:srgbClr val="33415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457200" y="102870"/>
            <a:ext cx="3383915" cy="217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</a:t>
            </a: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vibe coding</a:t>
            </a: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/ How to harness</a:t>
            </a:r>
            <a:endParaRPr lang="en-US" sz="1100" b="1" kern="0" spc="300" dirty="0">
              <a:solidFill>
                <a:srgbClr val="FF57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154930" cy="584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30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runtime harness</a:t>
            </a:r>
            <a:r>
              <a:rPr lang="en-US" altLang="zh-CN" sz="30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30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gates</a:t>
            </a:r>
            <a:endParaRPr lang="en-US" altLang="zh-CN" sz="30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8" name="Right Arrow 26"/>
          <p:cNvSpPr/>
          <p:nvPr/>
        </p:nvSpPr>
        <p:spPr>
          <a:xfrm>
            <a:off x="2420620" y="2749550"/>
            <a:ext cx="615315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70" name="Right Arrow 26"/>
          <p:cNvSpPr/>
          <p:nvPr/>
        </p:nvSpPr>
        <p:spPr>
          <a:xfrm>
            <a:off x="2420620" y="3403600"/>
            <a:ext cx="615315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71" name="Right Arrow 26"/>
          <p:cNvSpPr/>
          <p:nvPr/>
        </p:nvSpPr>
        <p:spPr>
          <a:xfrm>
            <a:off x="2423795" y="4195445"/>
            <a:ext cx="615315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72" name="Right Arrow 26"/>
          <p:cNvSpPr/>
          <p:nvPr/>
        </p:nvSpPr>
        <p:spPr>
          <a:xfrm>
            <a:off x="5746750" y="1833880"/>
            <a:ext cx="615315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73" name="Right Arrow 26"/>
          <p:cNvSpPr/>
          <p:nvPr/>
        </p:nvSpPr>
        <p:spPr>
          <a:xfrm>
            <a:off x="5749925" y="4195445"/>
            <a:ext cx="615315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74" name="Right Arrow 26"/>
          <p:cNvSpPr/>
          <p:nvPr/>
        </p:nvSpPr>
        <p:spPr>
          <a:xfrm>
            <a:off x="5746750" y="2749550"/>
            <a:ext cx="615315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  <p:sp>
        <p:nvSpPr>
          <p:cNvPr id="75" name="Right Arrow 26"/>
          <p:cNvSpPr/>
          <p:nvPr/>
        </p:nvSpPr>
        <p:spPr>
          <a:xfrm>
            <a:off x="5746750" y="3403600"/>
            <a:ext cx="615315" cy="12827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-447675" y="6327140"/>
            <a:ext cx="3429000" cy="857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endParaRPr lang="en-US" sz="825"/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247650" y="1211580"/>
            <a:ext cx="4191000" cy="378079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247650" y="1211580"/>
            <a:ext cx="57150" cy="1381125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438150" y="1306830"/>
            <a:ext cx="3810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M1 时间窗报告演示</a:t>
            </a:r>
            <a:endParaRPr lang="en-US" sz="825"/>
          </a:p>
        </p:txBody>
      </p:sp>
      <p:cxnSp>
        <p:nvCxnSpPr>
          <p:cNvPr id="10" name="Connector 10"/>
          <p:cNvCxnSpPr/>
          <p:nvPr>
            <p:custDataLst>
              <p:tags r:id="rId4"/>
            </p:custDataLst>
          </p:nvPr>
        </p:nvCxnSpPr>
        <p:spPr>
          <a:xfrm rot="-8594">
            <a:off x="438156" y="1683068"/>
            <a:ext cx="38100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438150" y="1783080"/>
            <a:ext cx="3905250" cy="714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825"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4799965" y="1202690"/>
            <a:ext cx="4191000" cy="378396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4799965" y="1202690"/>
            <a:ext cx="57150" cy="1381125"/>
          </a:xfrm>
          <a:prstGeom prst="roundRect">
            <a:avLst>
              <a:gd name="adj" fmla="val 0"/>
            </a:avLst>
          </a:prstGeom>
          <a:solidFill>
            <a:srgbClr val="FB92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4990465" y="1297940"/>
            <a:ext cx="3810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M2 锚点诊断演示</a:t>
            </a:r>
            <a:endParaRPr lang="en-US" sz="825"/>
          </a:p>
        </p:txBody>
      </p:sp>
      <p:cxnSp>
        <p:nvCxnSpPr>
          <p:cNvPr id="15" name="Connector 15"/>
          <p:cNvCxnSpPr/>
          <p:nvPr>
            <p:custDataLst>
              <p:tags r:id="rId9"/>
            </p:custDataLst>
          </p:nvPr>
        </p:nvCxnSpPr>
        <p:spPr>
          <a:xfrm rot="-8594">
            <a:off x="4990471" y="1674178"/>
            <a:ext cx="38100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Text 0"/>
          <p:cNvSpPr/>
          <p:nvPr/>
        </p:nvSpPr>
        <p:spPr>
          <a:xfrm>
            <a:off x="457200" y="914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21" name="Text 1"/>
          <p:cNvSpPr/>
          <p:nvPr/>
        </p:nvSpPr>
        <p:spPr>
          <a:xfrm>
            <a:off x="518795" y="445770"/>
            <a:ext cx="547052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Live Demo: 从 Slack 到报告</a:t>
            </a:r>
            <a:endParaRPr lang="en-US" sz="3200" dirty="0"/>
          </a:p>
        </p:txBody>
      </p:sp>
      <p:sp>
        <p:nvSpPr>
          <p:cNvPr id="22" name="Shape 2"/>
          <p:cNvSpPr/>
          <p:nvPr/>
        </p:nvSpPr>
        <p:spPr>
          <a:xfrm>
            <a:off x="518795" y="1085850"/>
            <a:ext cx="457200" cy="4572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76570" y="1678305"/>
            <a:ext cx="2551430" cy="32226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rcRect r="38952"/>
          <a:stretch>
            <a:fillRect/>
          </a:stretch>
        </p:blipFill>
        <p:spPr>
          <a:xfrm>
            <a:off x="633095" y="2027555"/>
            <a:ext cx="3175635" cy="25628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57200" y="914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交付成果  /  WHAT WE SHIP</a:t>
            </a:r>
            <a:endParaRPr lang="en-US" sz="1100" dirty="0"/>
          </a:p>
        </p:txBody>
      </p:sp>
      <p:sp>
        <p:nvSpPr>
          <p:cNvPr id="29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76" name="Rounded Rectangle 12"/>
          <p:cNvSpPr/>
          <p:nvPr/>
        </p:nvSpPr>
        <p:spPr>
          <a:xfrm>
            <a:off x="2887345" y="742950"/>
            <a:ext cx="2926080" cy="17556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13"/>
          <p:cNvSpPr txBox="1"/>
          <p:nvPr/>
        </p:nvSpPr>
        <p:spPr>
          <a:xfrm>
            <a:off x="3051937" y="880110"/>
            <a:ext cx="2596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微软雅黑" panose="020B0503020204020204" pitchFamily="34" charset="-122"/>
              </a:rPr>
              <a:t>产品能力</a:t>
            </a:r>
            <a:endParaRPr sz="1300" b="1" i="0">
              <a:solidFill>
                <a:srgbClr val="0F172A"/>
              </a:solidFill>
              <a:latin typeface="微软雅黑" panose="020B0503020204020204" pitchFamily="34" charset="-122"/>
            </a:endParaRPr>
          </a:p>
        </p:txBody>
      </p:sp>
      <p:sp>
        <p:nvSpPr>
          <p:cNvPr id="78" name="TextBox 14"/>
          <p:cNvSpPr txBox="1"/>
          <p:nvPr/>
        </p:nvSpPr>
        <p:spPr>
          <a:xfrm>
            <a:off x="3051937" y="1277747"/>
            <a:ext cx="1188720" cy="676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5722"/>
                </a:solidFill>
                <a:latin typeface="Calibri" panose="020F0502020204030204"/>
              </a:rPr>
              <a:t>2</a:t>
            </a:r>
            <a:endParaRPr lang="en-US" sz="4400" b="1" i="0">
              <a:solidFill>
                <a:srgbClr val="FF5722"/>
              </a:solidFill>
              <a:latin typeface="Calibri" panose="020F0502020204030204"/>
            </a:endParaRPr>
          </a:p>
        </p:txBody>
      </p:sp>
      <p:sp>
        <p:nvSpPr>
          <p:cNvPr id="79" name="TextBox 15"/>
          <p:cNvSpPr txBox="1"/>
          <p:nvPr/>
        </p:nvSpPr>
        <p:spPr>
          <a:xfrm>
            <a:off x="4277233" y="1245870"/>
            <a:ext cx="13533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微软雅黑" panose="020B0503020204020204" pitchFamily="34" charset="-122"/>
              </a:rPr>
              <a:t>核心产品链路</a:t>
            </a:r>
            <a:endParaRPr sz="1200" b="1" i="0">
              <a:solidFill>
                <a:srgbClr val="0F172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0" name="TextBox 16"/>
          <p:cNvSpPr txBox="1"/>
          <p:nvPr/>
        </p:nvSpPr>
        <p:spPr>
          <a:xfrm>
            <a:off x="4277233" y="1547622"/>
            <a:ext cx="1353312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4748B"/>
                </a:solidFill>
                <a:latin typeface="微软雅黑" panose="020B0503020204020204" pitchFamily="34" charset="-122"/>
              </a:rPr>
              <a:t>M1 日报  /  M2 诊断 </a:t>
            </a:r>
            <a:endParaRPr sz="950" b="0" i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81" name="Rounded Rectangle 17"/>
          <p:cNvSpPr/>
          <p:nvPr/>
        </p:nvSpPr>
        <p:spPr>
          <a:xfrm>
            <a:off x="3051937" y="2041398"/>
            <a:ext cx="79248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8 Prompt </a:t>
            </a:r>
            <a:endParaRPr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82" name="Rounded Rectangle 18"/>
          <p:cNvSpPr/>
          <p:nvPr/>
        </p:nvSpPr>
        <p:spPr>
          <a:xfrm>
            <a:off x="3954145" y="2041398"/>
            <a:ext cx="79248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5 </a:t>
            </a:r>
            <a:r>
              <a:rPr 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Tool</a:t>
            </a:r>
            <a:r>
              <a:rPr 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s </a:t>
            </a:r>
            <a:endParaRPr lang="en-US"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83" name="Rounded Rectangle 19"/>
          <p:cNvSpPr/>
          <p:nvPr/>
        </p:nvSpPr>
        <p:spPr>
          <a:xfrm>
            <a:off x="4856353" y="2041398"/>
            <a:ext cx="79248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5 </a:t>
            </a:r>
            <a:r>
              <a:rPr 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Contact</a:t>
            </a:r>
            <a:r>
              <a:rPr 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s</a:t>
            </a:r>
            <a:endParaRPr lang="en-US"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84" name="Rounded Rectangle 20"/>
          <p:cNvSpPr/>
          <p:nvPr/>
        </p:nvSpPr>
        <p:spPr>
          <a:xfrm>
            <a:off x="5904865" y="742950"/>
            <a:ext cx="2926080" cy="17556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21"/>
          <p:cNvSpPr txBox="1"/>
          <p:nvPr/>
        </p:nvSpPr>
        <p:spPr>
          <a:xfrm>
            <a:off x="6069457" y="880110"/>
            <a:ext cx="2596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微软雅黑" panose="020B0503020204020204" pitchFamily="34" charset="-122"/>
              </a:rPr>
              <a:t>工程可信度</a:t>
            </a:r>
            <a:endParaRPr sz="1300" b="1" i="0">
              <a:solidFill>
                <a:srgbClr val="0F172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6" name="TextBox 22"/>
          <p:cNvSpPr txBox="1"/>
          <p:nvPr/>
        </p:nvSpPr>
        <p:spPr>
          <a:xfrm>
            <a:off x="6069457" y="1181862"/>
            <a:ext cx="11887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5722"/>
                </a:solidFill>
                <a:latin typeface="Calibri" panose="020F0502020204030204"/>
              </a:rPr>
              <a:t>515</a:t>
            </a:r>
            <a:endParaRPr sz="4400" b="1" i="0">
              <a:solidFill>
                <a:srgbClr val="FF5722"/>
              </a:solidFill>
              <a:latin typeface="Calibri" panose="020F0502020204030204"/>
            </a:endParaRPr>
          </a:p>
        </p:txBody>
      </p:sp>
      <p:sp>
        <p:nvSpPr>
          <p:cNvPr id="87" name="TextBox 23"/>
          <p:cNvSpPr txBox="1"/>
          <p:nvPr/>
        </p:nvSpPr>
        <p:spPr>
          <a:xfrm>
            <a:off x="7294753" y="1245870"/>
            <a:ext cx="13533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微软雅黑" panose="020B0503020204020204" pitchFamily="34" charset="-122"/>
              </a:rPr>
              <a:t>自动化测试用例</a:t>
            </a:r>
            <a:endParaRPr sz="1200" b="1" i="0">
              <a:solidFill>
                <a:srgbClr val="0F172A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TextBox 24"/>
          <p:cNvSpPr txBox="1"/>
          <p:nvPr/>
        </p:nvSpPr>
        <p:spPr>
          <a:xfrm>
            <a:off x="7294753" y="1547622"/>
            <a:ext cx="13533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50" b="0" i="0">
                <a:solidFill>
                  <a:srgbClr val="64748B"/>
                </a:solidFill>
                <a:latin typeface="微软雅黑" panose="020B0503020204020204" pitchFamily="34" charset="-122"/>
              </a:rPr>
              <a:t>unit test</a:t>
            </a:r>
            <a:r>
              <a:rPr sz="950" b="0" i="0">
                <a:solidFill>
                  <a:srgbClr val="64748B"/>
                </a:solidFill>
                <a:latin typeface="微软雅黑" panose="020B0503020204020204" pitchFamily="34" charset="-122"/>
              </a:rPr>
              <a:t> / </a:t>
            </a:r>
            <a:r>
              <a:rPr lang="en-US" sz="950" b="0" i="0">
                <a:solidFill>
                  <a:srgbClr val="64748B"/>
                </a:solidFill>
                <a:latin typeface="微软雅黑" panose="020B0503020204020204" pitchFamily="34" charset="-122"/>
              </a:rPr>
              <a:t>contract test</a:t>
            </a:r>
            <a:r>
              <a:rPr sz="950" b="0" i="0">
                <a:solidFill>
                  <a:srgbClr val="64748B"/>
                </a:solidFill>
                <a:latin typeface="微软雅黑" panose="020B0503020204020204" pitchFamily="34" charset="-122"/>
              </a:rPr>
              <a:t> / hx </a:t>
            </a:r>
            <a:r>
              <a:rPr lang="en-US" sz="950" b="0" i="0">
                <a:solidFill>
                  <a:srgbClr val="64748B"/>
                </a:solidFill>
                <a:latin typeface="微软雅黑" panose="020B0503020204020204" pitchFamily="34" charset="-122"/>
              </a:rPr>
              <a:t>test</a:t>
            </a:r>
            <a:endParaRPr lang="en-US" sz="950" b="0" i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89" name="Rounded Rectangle 25"/>
          <p:cNvSpPr/>
          <p:nvPr/>
        </p:nvSpPr>
        <p:spPr>
          <a:xfrm>
            <a:off x="6069457" y="2041398"/>
            <a:ext cx="79248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382 </a:t>
            </a:r>
            <a:r>
              <a:rPr 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uinit</a:t>
            </a:r>
            <a:endParaRPr lang="en-US"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0" name="Rounded Rectangle 26"/>
          <p:cNvSpPr/>
          <p:nvPr/>
        </p:nvSpPr>
        <p:spPr>
          <a:xfrm>
            <a:off x="6971664" y="2041398"/>
            <a:ext cx="79248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69 </a:t>
            </a:r>
            <a:r>
              <a:rPr 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contract</a:t>
            </a:r>
            <a:endParaRPr lang="en-US"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1" name="Rounded Rectangle 27"/>
          <p:cNvSpPr/>
          <p:nvPr/>
        </p:nvSpPr>
        <p:spPr>
          <a:xfrm>
            <a:off x="7873872" y="2041398"/>
            <a:ext cx="79248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64 hx </a:t>
            </a:r>
            <a:r>
              <a:rPr lang="en-US" sz="1000" b="0">
                <a:solidFill>
                  <a:srgbClr val="334155"/>
                </a:solidFill>
                <a:latin typeface="微软雅黑" panose="020B0503020204020204" pitchFamily="34" charset="-122"/>
              </a:rPr>
              <a:t>test</a:t>
            </a:r>
            <a:endParaRPr lang="en-US"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" name="Rounded Rectangle 28"/>
          <p:cNvSpPr/>
          <p:nvPr/>
        </p:nvSpPr>
        <p:spPr>
          <a:xfrm>
            <a:off x="2887345" y="2590038"/>
            <a:ext cx="2926080" cy="17556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29"/>
          <p:cNvSpPr txBox="1"/>
          <p:nvPr/>
        </p:nvSpPr>
        <p:spPr>
          <a:xfrm>
            <a:off x="3051937" y="2727198"/>
            <a:ext cx="2596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微软雅黑" panose="020B0503020204020204" pitchFamily="34" charset="-122"/>
              </a:rPr>
              <a:t>协作交付</a:t>
            </a:r>
            <a:endParaRPr sz="1300" b="1" i="0">
              <a:solidFill>
                <a:srgbClr val="0F172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4" name="TextBox 30"/>
          <p:cNvSpPr txBox="1"/>
          <p:nvPr/>
        </p:nvSpPr>
        <p:spPr>
          <a:xfrm>
            <a:off x="3051937" y="3028950"/>
            <a:ext cx="11887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5722"/>
                </a:solidFill>
                <a:latin typeface="Calibri" panose="020F0502020204030204"/>
              </a:rPr>
              <a:t>59</a:t>
            </a:r>
            <a:endParaRPr sz="4400" b="1" i="0">
              <a:solidFill>
                <a:srgbClr val="FF5722"/>
              </a:solidFill>
              <a:latin typeface="Calibri" panose="020F0502020204030204"/>
            </a:endParaRPr>
          </a:p>
        </p:txBody>
      </p:sp>
      <p:sp>
        <p:nvSpPr>
          <p:cNvPr id="95" name="TextBox 31"/>
          <p:cNvSpPr txBox="1"/>
          <p:nvPr/>
        </p:nvSpPr>
        <p:spPr>
          <a:xfrm>
            <a:off x="4277233" y="3092958"/>
            <a:ext cx="13533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微软雅黑" panose="020B0503020204020204" pitchFamily="34" charset="-122"/>
              </a:rPr>
              <a:t>Task 卡片</a:t>
            </a:r>
            <a:endParaRPr sz="1200" b="1" i="0">
              <a:solidFill>
                <a:srgbClr val="0F172A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" name="TextBox 32"/>
          <p:cNvSpPr txBox="1"/>
          <p:nvPr/>
        </p:nvSpPr>
        <p:spPr>
          <a:xfrm>
            <a:off x="4277233" y="3394710"/>
            <a:ext cx="13533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4748B"/>
                </a:solidFill>
                <a:latin typeface="微软雅黑" panose="020B0503020204020204" pitchFamily="34" charset="-122"/>
              </a:rPr>
              <a:t>拆到可领取、可验收的工作粒度</a:t>
            </a:r>
            <a:endParaRPr sz="950" b="0" i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97" name="Rounded Rectangle 33"/>
          <p:cNvSpPr/>
          <p:nvPr/>
        </p:nvSpPr>
        <p:spPr>
          <a:xfrm>
            <a:off x="3051937" y="3888486"/>
            <a:ext cx="79248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162 次提交</a:t>
            </a:r>
            <a:endParaRPr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8" name="Rounded Rectangle 34"/>
          <p:cNvSpPr/>
          <p:nvPr/>
        </p:nvSpPr>
        <p:spPr>
          <a:xfrm>
            <a:off x="3954145" y="3888486"/>
            <a:ext cx="79248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61 份报告</a:t>
            </a:r>
            <a:endParaRPr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9" name="Rounded Rectangle 35"/>
          <p:cNvSpPr/>
          <p:nvPr/>
        </p:nvSpPr>
        <p:spPr>
          <a:xfrm>
            <a:off x="4856353" y="3888486"/>
            <a:ext cx="79248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3 位贡献者</a:t>
            </a:r>
            <a:endParaRPr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0" name="Rounded Rectangle 36"/>
          <p:cNvSpPr/>
          <p:nvPr/>
        </p:nvSpPr>
        <p:spPr>
          <a:xfrm>
            <a:off x="5904865" y="2590038"/>
            <a:ext cx="2926080" cy="175564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37"/>
          <p:cNvSpPr txBox="1"/>
          <p:nvPr/>
        </p:nvSpPr>
        <p:spPr>
          <a:xfrm>
            <a:off x="6069457" y="2727198"/>
            <a:ext cx="2596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微软雅黑" panose="020B0503020204020204" pitchFamily="34" charset="-122"/>
              </a:rPr>
              <a:t>知识沉淀</a:t>
            </a:r>
            <a:endParaRPr sz="1300" b="1" i="0">
              <a:solidFill>
                <a:srgbClr val="0F172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2" name="TextBox 38"/>
          <p:cNvSpPr txBox="1"/>
          <p:nvPr/>
        </p:nvSpPr>
        <p:spPr>
          <a:xfrm>
            <a:off x="6069457" y="3028950"/>
            <a:ext cx="11887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5722"/>
                </a:solidFill>
                <a:latin typeface="Calibri" panose="020F0502020204030204"/>
              </a:rPr>
              <a:t>152</a:t>
            </a:r>
            <a:endParaRPr sz="4400" b="1" i="0">
              <a:solidFill>
                <a:srgbClr val="FF5722"/>
              </a:solidFill>
              <a:latin typeface="Calibri" panose="020F0502020204030204"/>
            </a:endParaRPr>
          </a:p>
        </p:txBody>
      </p:sp>
      <p:sp>
        <p:nvSpPr>
          <p:cNvPr id="103" name="TextBox 39"/>
          <p:cNvSpPr txBox="1"/>
          <p:nvPr/>
        </p:nvSpPr>
        <p:spPr>
          <a:xfrm>
            <a:off x="7294753" y="3092958"/>
            <a:ext cx="13533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微软雅黑" panose="020B0503020204020204" pitchFamily="34" charset="-122"/>
              </a:rPr>
              <a:t>项目相关文档</a:t>
            </a:r>
            <a:endParaRPr sz="1200" b="1" i="0">
              <a:solidFill>
                <a:srgbClr val="0F172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4" name="TextBox 40"/>
          <p:cNvSpPr txBox="1"/>
          <p:nvPr/>
        </p:nvSpPr>
        <p:spPr>
          <a:xfrm>
            <a:off x="7294753" y="3394710"/>
            <a:ext cx="13533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4748B"/>
                </a:solidFill>
                <a:latin typeface="微软雅黑" panose="020B0503020204020204" pitchFamily="34" charset="-122"/>
              </a:rPr>
              <a:t>排除工具目录和虚拟环境文档</a:t>
            </a:r>
            <a:endParaRPr sz="950" b="0" i="0">
              <a:solidFill>
                <a:srgbClr val="64748B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5" name="Rounded Rectangle 41"/>
          <p:cNvSpPr/>
          <p:nvPr/>
        </p:nvSpPr>
        <p:spPr>
          <a:xfrm>
            <a:off x="6069457" y="3888486"/>
            <a:ext cx="79248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16 设计文档</a:t>
            </a:r>
            <a:endParaRPr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6" name="Rounded Rectangle 42"/>
          <p:cNvSpPr/>
          <p:nvPr/>
        </p:nvSpPr>
        <p:spPr>
          <a:xfrm>
            <a:off x="6971664" y="3888486"/>
            <a:ext cx="79248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14 知识库</a:t>
            </a:r>
            <a:endParaRPr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7" name="Rounded Rectangle 43"/>
          <p:cNvSpPr/>
          <p:nvPr/>
        </p:nvSpPr>
        <p:spPr>
          <a:xfrm>
            <a:off x="7873872" y="3888486"/>
            <a:ext cx="79248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/>
            <a:r>
              <a:rPr sz="1000" b="0">
                <a:solidFill>
                  <a:srgbClr val="334155"/>
                </a:solidFill>
                <a:latin typeface="微软雅黑" panose="020B0503020204020204" pitchFamily="34" charset="-122"/>
              </a:rPr>
              <a:t>11 复盘</a:t>
            </a:r>
            <a:endParaRPr sz="1000" b="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8" name="Rounded Rectangle 44"/>
          <p:cNvSpPr/>
          <p:nvPr/>
        </p:nvSpPr>
        <p:spPr>
          <a:xfrm>
            <a:off x="2887345" y="4491990"/>
            <a:ext cx="5943600" cy="292608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45"/>
          <p:cNvSpPr txBox="1"/>
          <p:nvPr/>
        </p:nvSpPr>
        <p:spPr>
          <a:xfrm>
            <a:off x="2887345" y="4491990"/>
            <a:ext cx="59436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5722"/>
                </a:solidFill>
                <a:latin typeface="Calibri" panose="020F0502020204030204"/>
              </a:rPr>
              <a:t>11,005</a:t>
            </a:r>
            <a:r>
              <a:rPr sz="1100">
                <a:solidFill>
                  <a:srgbClr val="334155"/>
                </a:solidFill>
                <a:latin typeface="微软雅黑" panose="020B0503020204020204" pitchFamily="34" charset="-122"/>
              </a:rPr>
              <a:t> 行测试代码</a:t>
            </a:r>
            <a:endParaRPr sz="1100">
              <a:solidFill>
                <a:srgbClr val="33415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0" name="Rounded Rectangle 1"/>
          <p:cNvSpPr/>
          <p:nvPr/>
        </p:nvSpPr>
        <p:spPr>
          <a:xfrm>
            <a:off x="274320" y="742950"/>
            <a:ext cx="2468880" cy="4041775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2"/>
          <p:cNvSpPr txBox="1"/>
          <p:nvPr/>
        </p:nvSpPr>
        <p:spPr>
          <a:xfrm>
            <a:off x="328930" y="88011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B68C"/>
                </a:solidFill>
                <a:latin typeface="微软雅黑" panose="020B0503020204020204" pitchFamily="34" charset="-122"/>
              </a:rPr>
              <a:t>核心结论</a:t>
            </a:r>
            <a:endParaRPr sz="1300" b="1" i="0">
              <a:solidFill>
                <a:srgbClr val="FFB68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" name="TextBox 3"/>
          <p:cNvSpPr txBox="1"/>
          <p:nvPr/>
        </p:nvSpPr>
        <p:spPr>
          <a:xfrm>
            <a:off x="365760" y="1400809"/>
            <a:ext cx="228600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sym typeface="+mn-ea"/>
              </a:rPr>
              <a:t>一条闭环, 而不是概念</a:t>
            </a:r>
            <a:endParaRPr sz="1500" b="1" i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269875" y="1863090"/>
            <a:ext cx="2473325" cy="411480"/>
          </a:xfrm>
          <a:prstGeom prst="roundRect">
            <a:avLst>
              <a:gd name="adj" fmla="val 20000"/>
            </a:avLst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5"/>
          <p:cNvSpPr txBox="1"/>
          <p:nvPr/>
        </p:nvSpPr>
        <p:spPr>
          <a:xfrm>
            <a:off x="365760" y="1988185"/>
            <a:ext cx="2286000" cy="184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pitchFamily="34" charset="-122"/>
              </a:rPr>
              <a:t>一</a:t>
            </a:r>
            <a:r>
              <a:rPr lang="zh-CN" sz="1200" b="1" i="0">
                <a:solidFill>
                  <a:srgbClr val="FFFFFF"/>
                </a:solidFill>
                <a:latin typeface="微软雅黑" panose="020B0503020204020204" pitchFamily="34" charset="-122"/>
              </a:rPr>
              <a:t>个</a:t>
            </a:r>
            <a:r>
              <a:rPr sz="1200" b="1" i="0">
                <a:solidFill>
                  <a:srgbClr val="FFFFFF"/>
                </a:solidFill>
                <a:latin typeface="微软雅黑" panose="020B0503020204020204" pitchFamily="34" charset="-122"/>
              </a:rPr>
              <a:t>可继续迭代的</a:t>
            </a:r>
            <a:r>
              <a:rPr lang="en-US" sz="1200" b="1" i="0">
                <a:solidFill>
                  <a:srgbClr val="FFFFFF"/>
                </a:solidFill>
                <a:latin typeface="微软雅黑" panose="020B0503020204020204" pitchFamily="34" charset="-122"/>
              </a:rPr>
              <a:t>Agent</a:t>
            </a:r>
            <a:endParaRPr lang="en-US" sz="1200" b="1" i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5" name="TextBox 6"/>
          <p:cNvSpPr txBox="1"/>
          <p:nvPr/>
        </p:nvSpPr>
        <p:spPr>
          <a:xfrm>
            <a:off x="365760" y="2834640"/>
            <a:ext cx="999490" cy="2305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500" b="1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r>
              <a:rPr lang="en-US" sz="1500" b="1">
                <a:solidFill>
                  <a:srgbClr val="FF5722"/>
                </a:solidFill>
                <a:latin typeface="微软雅黑" panose="020B0503020204020204" pitchFamily="34" charset="-122"/>
              </a:rPr>
              <a:t> </a:t>
            </a:r>
            <a:r>
              <a:rPr sz="1300">
                <a:solidFill>
                  <a:srgbClr val="FFFFFF"/>
                </a:solidFill>
                <a:latin typeface="微软雅黑" panose="020B0503020204020204" pitchFamily="34" charset="-122"/>
              </a:rPr>
              <a:t>条产品链路</a:t>
            </a:r>
            <a:endParaRPr sz="130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6" name="TextBox 7"/>
          <p:cNvSpPr txBox="1"/>
          <p:nvPr/>
        </p:nvSpPr>
        <p:spPr>
          <a:xfrm>
            <a:off x="365760" y="3145536"/>
            <a:ext cx="2286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chemeClr val="bg1"/>
                </a:solidFill>
                <a:latin typeface="微软雅黑" panose="020B0503020204020204" pitchFamily="34" charset="-122"/>
              </a:rPr>
              <a:t>515</a:t>
            </a:r>
            <a:r>
              <a:rPr sz="130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sz="1300">
                <a:solidFill>
                  <a:srgbClr val="FFFFFF"/>
                </a:solidFill>
                <a:latin typeface="微软雅黑" panose="020B0503020204020204" pitchFamily="34" charset="-122"/>
              </a:rPr>
              <a:t>个测试用例</a:t>
            </a:r>
            <a:endParaRPr sz="130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7" name="TextBox 8"/>
          <p:cNvSpPr txBox="1"/>
          <p:nvPr/>
        </p:nvSpPr>
        <p:spPr>
          <a:xfrm>
            <a:off x="365760" y="3456432"/>
            <a:ext cx="2286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chemeClr val="bg1"/>
                </a:solidFill>
                <a:latin typeface="微软雅黑" panose="020B0503020204020204" pitchFamily="34" charset="-122"/>
              </a:rPr>
              <a:t>59</a:t>
            </a:r>
            <a:r>
              <a:rPr sz="1300">
                <a:solidFill>
                  <a:srgbClr val="FFFFFF"/>
                </a:solidFill>
                <a:latin typeface="微软雅黑" panose="020B0503020204020204" pitchFamily="34" charset="-122"/>
              </a:rPr>
              <a:t> 张任务卡</a:t>
            </a:r>
            <a:endParaRPr sz="130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8" name="TextBox 9"/>
          <p:cNvSpPr txBox="1"/>
          <p:nvPr/>
        </p:nvSpPr>
        <p:spPr>
          <a:xfrm>
            <a:off x="365760" y="3767328"/>
            <a:ext cx="2286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chemeClr val="bg1"/>
                </a:solidFill>
                <a:latin typeface="微软雅黑" panose="020B0503020204020204" pitchFamily="34" charset="-122"/>
              </a:rPr>
              <a:t>162</a:t>
            </a:r>
            <a:r>
              <a:rPr sz="1300">
                <a:solidFill>
                  <a:srgbClr val="FFFFFF"/>
                </a:solidFill>
                <a:latin typeface="微软雅黑" panose="020B0503020204020204" pitchFamily="34" charset="-122"/>
              </a:rPr>
              <a:t> 次提交</a:t>
            </a:r>
            <a:endParaRPr sz="130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9" name="TextBox 10"/>
          <p:cNvSpPr txBox="1"/>
          <p:nvPr/>
        </p:nvSpPr>
        <p:spPr>
          <a:xfrm>
            <a:off x="365760" y="4078224"/>
            <a:ext cx="2286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chemeClr val="bg1"/>
                </a:solidFill>
                <a:latin typeface="微软雅黑" panose="020B0503020204020204" pitchFamily="34" charset="-122"/>
              </a:rPr>
              <a:t>152</a:t>
            </a:r>
            <a:r>
              <a:rPr sz="1300">
                <a:solidFill>
                  <a:srgbClr val="FFFFFF"/>
                </a:solidFill>
                <a:latin typeface="微软雅黑" panose="020B0503020204020204" pitchFamily="34" charset="-122"/>
              </a:rPr>
              <a:t> 份项目文档</a:t>
            </a:r>
            <a:endParaRPr sz="130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2" name="TextBox 6"/>
          <p:cNvSpPr txBox="1"/>
          <p:nvPr/>
        </p:nvSpPr>
        <p:spPr>
          <a:xfrm>
            <a:off x="365760" y="2544445"/>
            <a:ext cx="1164590" cy="2305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500" b="1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r>
              <a:rPr lang="en-US" sz="1500" b="1">
                <a:solidFill>
                  <a:srgbClr val="FF5722"/>
                </a:solidFill>
                <a:latin typeface="微软雅黑" panose="020B0503020204020204" pitchFamily="34" charset="-122"/>
              </a:rPr>
              <a:t> </a:t>
            </a:r>
            <a:r>
              <a:rPr sz="1300">
                <a:solidFill>
                  <a:srgbClr val="FFFFFF"/>
                </a:solidFill>
                <a:latin typeface="微软雅黑" panose="020B0503020204020204" pitchFamily="34" charset="-122"/>
              </a:rPr>
              <a:t>手写业务代码</a:t>
            </a:r>
            <a:endParaRPr lang="zh-CN" altLang="en-US" sz="1500" b="1">
              <a:solidFill>
                <a:srgbClr val="FF572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571500" y="1428750"/>
            <a:ext cx="2533650" cy="142875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375" y="1571625"/>
            <a:ext cx="266700" cy="2667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095375" y="1543050"/>
            <a:ext cx="1905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 (Fast)</a:t>
            </a:r>
            <a:endParaRPr lang="en-US" sz="825"/>
          </a:p>
        </p:txBody>
      </p:sp>
      <p:cxnSp>
        <p:nvCxnSpPr>
          <p:cNvPr id="6" name="Connector 6"/>
          <p:cNvCxnSpPr/>
          <p:nvPr>
            <p:custDataLst>
              <p:tags r:id="rId6"/>
            </p:custDataLst>
          </p:nvPr>
        </p:nvCxnSpPr>
        <p:spPr>
          <a:xfrm rot="-14566">
            <a:off x="714385" y="1995488"/>
            <a:ext cx="224792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714375" y="2095500"/>
            <a:ext cx="22479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975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极大缩短从发现问题到获得初步分析结论的时间，让故障排查不再漫长等待，效率提升显著。</a:t>
            </a:r>
            <a:endParaRPr lang="en-US" sz="825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3295650" y="1428750"/>
            <a:ext cx="2533650" cy="142875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38525" y="1571625"/>
            <a:ext cx="266700" cy="2667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3819525" y="1543050"/>
            <a:ext cx="1905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 (Accurate)</a:t>
            </a:r>
            <a:endParaRPr lang="en-US" sz="825"/>
          </a:p>
        </p:txBody>
      </p:sp>
      <p:cxnSp>
        <p:nvCxnSpPr>
          <p:cNvPr id="11" name="Connector 11"/>
          <p:cNvCxnSpPr/>
          <p:nvPr>
            <p:custDataLst>
              <p:tags r:id="rId13"/>
            </p:custDataLst>
          </p:nvPr>
        </p:nvCxnSpPr>
        <p:spPr>
          <a:xfrm rot="-14566">
            <a:off x="3438535" y="1995488"/>
            <a:ext cx="224792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3438525" y="2095500"/>
            <a:ext cx="22479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975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基于可信数据源和严谨的分析流程，摒弃模糊推测，提供准确、可追溯、可验证的分析结果。</a:t>
            </a:r>
            <a:endParaRPr lang="en-US" sz="825"/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6019800" y="1428750"/>
            <a:ext cx="2533650" cy="142875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62675" y="1571625"/>
            <a:ext cx="266700" cy="2667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6543675" y="1543050"/>
            <a:ext cx="1905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不越位 (Non-intrusive)</a:t>
            </a:r>
            <a:endParaRPr lang="en-US" sz="825"/>
          </a:p>
        </p:txBody>
      </p:sp>
      <p:cxnSp>
        <p:nvCxnSpPr>
          <p:cNvPr id="16" name="Connector 16"/>
          <p:cNvCxnSpPr/>
          <p:nvPr>
            <p:custDataLst>
              <p:tags r:id="rId20"/>
            </p:custDataLst>
          </p:nvPr>
        </p:nvCxnSpPr>
        <p:spPr>
          <a:xfrm rot="-14566">
            <a:off x="6162685" y="1995488"/>
            <a:ext cx="224792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6162675" y="2095500"/>
            <a:ext cx="22479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975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始终坚守“分析者”和“建议者”的角色，只提供关键证据与方案，绝不替代人的最终决策判断。</a:t>
            </a:r>
            <a:endParaRPr lang="en-US" sz="825"/>
          </a:p>
        </p:txBody>
      </p: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571500" y="3238500"/>
            <a:ext cx="2533650" cy="90487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571500" y="3238500"/>
            <a:ext cx="38100" cy="904875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714375" y="3314700"/>
            <a:ext cx="22479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Now · 当前聚焦</a:t>
            </a:r>
            <a:endParaRPr lang="en-US" sz="825"/>
          </a:p>
        </p:txBody>
      </p: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714375" y="3638550"/>
            <a:ext cx="2247900" cy="4286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专注于M1时间窗报告生成与M2锚点深度诊断，夯实基础分析能力，确保核心场景的可靠性。</a:t>
            </a:r>
            <a:endParaRPr lang="en-US" sz="825"/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3295650" y="3238500"/>
            <a:ext cx="2533650" cy="90487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3295650" y="3238500"/>
            <a:ext cx="38100" cy="904875"/>
          </a:xfrm>
          <a:prstGeom prst="roundRect">
            <a:avLst>
              <a:gd name="adj" fmla="val 0"/>
            </a:avLst>
          </a:prstGeom>
          <a:solidFill>
            <a:srgbClr val="F9731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24" name="AutoShape 24"/>
          <p:cNvSpPr/>
          <p:nvPr>
            <p:custDataLst>
              <p:tags r:id="rId28"/>
            </p:custDataLst>
          </p:nvPr>
        </p:nvSpPr>
        <p:spPr>
          <a:xfrm>
            <a:off x="3438525" y="3314700"/>
            <a:ext cx="22479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Next · 能力拓展</a:t>
            </a:r>
            <a:endParaRPr lang="en-US" sz="825"/>
          </a:p>
        </p:txBody>
      </p:sp>
      <p:sp>
        <p:nvSpPr>
          <p:cNvPr id="25" name="AutoShape 25"/>
          <p:cNvSpPr/>
          <p:nvPr>
            <p:custDataLst>
              <p:tags r:id="rId29"/>
            </p:custDataLst>
          </p:nvPr>
        </p:nvSpPr>
        <p:spPr>
          <a:xfrm>
            <a:off x="3438525" y="3638550"/>
            <a:ext cx="2247900" cy="4286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集成多源数据/</a:t>
            </a:r>
            <a:r>
              <a:rPr lang="zh-CN" alt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</a:t>
            </a:r>
            <a:r>
              <a:rPr lang="en-US" altLang="zh-CN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</a:t>
            </a: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代码仓库，</a:t>
            </a: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覆盖更多诊断场景，并赋予系统记忆能力以沉淀经验。</a:t>
            </a:r>
            <a:endParaRPr lang="en-US" sz="825"/>
          </a:p>
        </p:txBody>
      </p:sp>
      <p:sp>
        <p:nvSpPr>
          <p:cNvPr id="26" name="AutoShape 26"/>
          <p:cNvSpPr/>
          <p:nvPr>
            <p:custDataLst>
              <p:tags r:id="rId30"/>
            </p:custDataLst>
          </p:nvPr>
        </p:nvSpPr>
        <p:spPr>
          <a:xfrm>
            <a:off x="6019800" y="3238500"/>
            <a:ext cx="2533650" cy="90487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27" name="AutoShape 27"/>
          <p:cNvSpPr/>
          <p:nvPr>
            <p:custDataLst>
              <p:tags r:id="rId31"/>
            </p:custDataLst>
          </p:nvPr>
        </p:nvSpPr>
        <p:spPr>
          <a:xfrm>
            <a:off x="6019800" y="3238500"/>
            <a:ext cx="38100" cy="904875"/>
          </a:xfrm>
          <a:prstGeom prst="roundRect">
            <a:avLst>
              <a:gd name="adj" fmla="val 0"/>
            </a:avLst>
          </a:prstGeom>
          <a:solidFill>
            <a:srgbClr val="F97316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28" name="AutoShape 28"/>
          <p:cNvSpPr/>
          <p:nvPr>
            <p:custDataLst>
              <p:tags r:id="rId32"/>
            </p:custDataLst>
          </p:nvPr>
        </p:nvSpPr>
        <p:spPr>
          <a:xfrm>
            <a:off x="6162675" y="3314700"/>
            <a:ext cx="22479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Vision · 终极愿景</a:t>
            </a:r>
            <a:endParaRPr lang="en-US" sz="825"/>
          </a:p>
        </p:txBody>
      </p:sp>
      <p:sp>
        <p:nvSpPr>
          <p:cNvPr id="29" name="AutoShape 29"/>
          <p:cNvSpPr/>
          <p:nvPr>
            <p:custDataLst>
              <p:tags r:id="rId33"/>
            </p:custDataLst>
          </p:nvPr>
        </p:nvSpPr>
        <p:spPr>
          <a:xfrm>
            <a:off x="6162675" y="3638550"/>
            <a:ext cx="2247900" cy="4286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进化为全知全能的DevOps AI Agent，主动感知风险、智能调度资源，成为运维团队的智能伙伴。</a:t>
            </a:r>
            <a:endParaRPr lang="en-US" sz="825"/>
          </a:p>
        </p:txBody>
      </p:sp>
      <p:sp>
        <p:nvSpPr>
          <p:cNvPr id="30" name="AutoShape 30"/>
          <p:cNvSpPr/>
          <p:nvPr/>
        </p:nvSpPr>
        <p:spPr>
          <a:xfrm>
            <a:off x="571500" y="4381500"/>
            <a:ext cx="8001000" cy="571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31" name="AutoShape 31"/>
          <p:cNvSpPr/>
          <p:nvPr/>
        </p:nvSpPr>
        <p:spPr>
          <a:xfrm>
            <a:off x="762000" y="4457700"/>
            <a:ext cx="7620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Diggy 的</a:t>
            </a:r>
            <a:r>
              <a:rPr lang="zh-CN" altLang="en-US" sz="105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核心设计理念</a:t>
            </a:r>
            <a:r>
              <a:rPr lang="en-US" sz="105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：不替代人的判断，而是更快地把最关键的证据和下一步的建议，精准地送到人的面前。</a:t>
            </a:r>
            <a:endParaRPr lang="en-US" sz="825"/>
          </a:p>
        </p:txBody>
      </p:sp>
      <p:sp>
        <p:nvSpPr>
          <p:cNvPr id="33" name="Text 0"/>
          <p:cNvSpPr/>
          <p:nvPr/>
        </p:nvSpPr>
        <p:spPr>
          <a:xfrm>
            <a:off x="457200" y="914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未来路线  /  ROADMAP</a:t>
            </a:r>
            <a:endParaRPr lang="en-US" sz="1100" dirty="0"/>
          </a:p>
        </p:txBody>
      </p:sp>
      <p:sp>
        <p:nvSpPr>
          <p:cNvPr id="34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从日志诊断开始, 进化成 DevOps Agent</a:t>
            </a:r>
            <a:endParaRPr lang="en-US" sz="3000" dirty="0"/>
          </a:p>
        </p:txBody>
      </p:sp>
      <p:sp>
        <p:nvSpPr>
          <p:cNvPr id="35" name="Shape 2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607060" y="1437005"/>
            <a:ext cx="3782695" cy="147447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457200" algn="ctr">
              <a:defRPr/>
            </a:pPr>
            <a:endParaRPr lang="zh-CN" altLang="en-US" sz="10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571500" y="1428750"/>
            <a:ext cx="38100" cy="1476375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571625"/>
            <a:ext cx="228600" cy="228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095375" y="1543050"/>
            <a:ext cx="3238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</a:t>
            </a:r>
            <a:r>
              <a:rPr lang="zh-CN" alt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设计方案改了</a:t>
            </a:r>
            <a:r>
              <a:rPr lang="zh-CN" alt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又改</a:t>
            </a:r>
            <a:endParaRPr lang="zh-CN" altLang="en-US" sz="1350" b="1" i="0" u="none" strike="noStrike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9167">
            <a:off x="762006" y="1947863"/>
            <a:ext cx="3571888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619625" y="1428750"/>
            <a:ext cx="3952875" cy="147637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619625" y="1428750"/>
            <a:ext cx="38100" cy="1476375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10125" y="1571625"/>
            <a:ext cx="228600" cy="228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5143500" y="1543050"/>
            <a:ext cx="3238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</a:t>
            </a:r>
            <a:r>
              <a:rPr lang="zh-CN" alt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多人任务并行与</a:t>
            </a:r>
            <a:r>
              <a:rPr lang="zh-CN" alt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冲突</a:t>
            </a:r>
            <a:endParaRPr lang="zh-CN" altLang="en-US" sz="1350" b="1" i="0" u="none" strike="noStrike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>
            <p:custDataLst>
              <p:tags r:id="rId14"/>
            </p:custDataLst>
          </p:nvPr>
        </p:nvCxnSpPr>
        <p:spPr>
          <a:xfrm rot="-9167">
            <a:off x="4810131" y="1947863"/>
            <a:ext cx="3571888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810125" y="2047875"/>
            <a:ext cx="357187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en-US" sz="825"/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571500" y="3143250"/>
            <a:ext cx="3952875" cy="147637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571500" y="3143250"/>
            <a:ext cx="38100" cy="1476375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2000" y="3286125"/>
            <a:ext cx="228600" cy="2286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1095375" y="3257550"/>
            <a:ext cx="3238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</a:t>
            </a:r>
            <a:r>
              <a:rPr lang="zh-CN" alt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如何做</a:t>
            </a:r>
            <a:r>
              <a:rPr lang="en-US" altLang="zh-CN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harness</a:t>
            </a:r>
            <a:r>
              <a:rPr 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825"/>
          </a:p>
        </p:txBody>
      </p:sp>
      <p:cxnSp>
        <p:nvCxnSpPr>
          <p:cNvPr id="19" name="Connector 19"/>
          <p:cNvCxnSpPr/>
          <p:nvPr>
            <p:custDataLst>
              <p:tags r:id="rId21"/>
            </p:custDataLst>
          </p:nvPr>
        </p:nvCxnSpPr>
        <p:spPr>
          <a:xfrm rot="-9167">
            <a:off x="762006" y="3662363"/>
            <a:ext cx="3571888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2"/>
            </p:custDataLst>
          </p:nvPr>
        </p:nvSpPr>
        <p:spPr>
          <a:xfrm>
            <a:off x="4619625" y="3143250"/>
            <a:ext cx="3952875" cy="147637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sp>
        <p:nvSpPr>
          <p:cNvPr id="22" name="AutoShape 22"/>
          <p:cNvSpPr/>
          <p:nvPr>
            <p:custDataLst>
              <p:tags r:id="rId23"/>
            </p:custDataLst>
          </p:nvPr>
        </p:nvSpPr>
        <p:spPr>
          <a:xfrm>
            <a:off x="4619625" y="3143250"/>
            <a:ext cx="38100" cy="1476375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1350"/>
          </a:p>
        </p:txBody>
      </p:sp>
      <p:pic>
        <p:nvPicPr>
          <p:cNvPr id="23" name="Picture 23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810125" y="3286125"/>
            <a:ext cx="228600" cy="228600"/>
          </a:xfrm>
          <a:prstGeom prst="rect">
            <a:avLst/>
          </a:prstGeom>
        </p:spPr>
      </p:pic>
      <p:sp>
        <p:nvSpPr>
          <p:cNvPr id="24" name="AutoShape 24"/>
          <p:cNvSpPr/>
          <p:nvPr>
            <p:custDataLst>
              <p:tags r:id="rId27"/>
            </p:custDataLst>
          </p:nvPr>
        </p:nvSpPr>
        <p:spPr>
          <a:xfrm>
            <a:off x="5143500" y="3257550"/>
            <a:ext cx="3238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</a:t>
            </a:r>
            <a:r>
              <a:rPr lang="zh-CN" alt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处理很多预期意外的场景</a:t>
            </a:r>
            <a:r>
              <a:rPr lang="en-US" sz="135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zh-CN" altLang="en-US" sz="1350" b="1" i="0" u="none" strike="noStrike">
              <a:solidFill>
                <a:srgbClr val="F9731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5" name="Connector 25"/>
          <p:cNvCxnSpPr/>
          <p:nvPr>
            <p:custDataLst>
              <p:tags r:id="rId28"/>
            </p:custDataLst>
          </p:nvPr>
        </p:nvCxnSpPr>
        <p:spPr>
          <a:xfrm rot="-9167">
            <a:off x="4810131" y="3662363"/>
            <a:ext cx="3571888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Shape 2"/>
          <p:cNvSpPr/>
          <p:nvPr/>
        </p:nvSpPr>
        <p:spPr>
          <a:xfrm>
            <a:off x="457200" y="960120"/>
            <a:ext cx="457200" cy="45720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28" name="Text 0"/>
          <p:cNvSpPr/>
          <p:nvPr/>
        </p:nvSpPr>
        <p:spPr>
          <a:xfrm>
            <a:off x="457200" y="914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问题与解决</a:t>
            </a:r>
            <a:r>
              <a:rPr lang="en-US" sz="1100" b="1" kern="0" spc="300" dirty="0">
                <a:solidFill>
                  <a:srgbClr val="FF57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/  HOW TO REVOLE PROBLEM</a:t>
            </a:r>
            <a:endParaRPr lang="en-US" sz="1100" dirty="0"/>
          </a:p>
        </p:txBody>
      </p:sp>
      <p:sp>
        <p:nvSpPr>
          <p:cNvPr id="29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3200" b="1" dirty="0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Hackathon</a:t>
            </a:r>
            <a:r>
              <a:rPr lang="zh-CN" altLang="en-US" sz="3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期间遇到的</a:t>
            </a:r>
            <a:r>
              <a:rPr lang="zh-CN" altLang="en-US" sz="32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</a:t>
            </a:r>
            <a:endParaRPr lang="zh-CN" altLang="en-US" sz="32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" name="文本框 1"/>
          <p:cNvSpPr txBox="1"/>
          <p:nvPr>
            <p:custDataLst>
              <p:tags r:id="rId29"/>
            </p:custDataLst>
          </p:nvPr>
        </p:nvSpPr>
        <p:spPr>
          <a:xfrm>
            <a:off x="762000" y="2047875"/>
            <a:ext cx="36283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不是“想法不够”，而是边界需要收敛：从日志总结，到两个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MVP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，从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openclaw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到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slack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coding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之前敲定最小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MVP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，且不再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修改</a:t>
            </a:r>
            <a:endParaRPr lang="zh-CN" altLang="en-US" sz="1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30"/>
            </p:custDataLst>
          </p:nvPr>
        </p:nvSpPr>
        <p:spPr>
          <a:xfrm>
            <a:off x="4753610" y="2051685"/>
            <a:ext cx="36283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ym typeface="+mn-ea"/>
              </a:rPr>
              <a:t>三个人、多</a:t>
            </a:r>
            <a:r>
              <a:rPr lang="en-US" altLang="zh-CN" sz="1000">
                <a:sym typeface="+mn-ea"/>
              </a:rPr>
              <a:t>agent</a:t>
            </a:r>
            <a:r>
              <a:rPr lang="zh-CN" altLang="en-US" sz="1000">
                <a:sym typeface="+mn-ea"/>
              </a:rPr>
              <a:t>同时推进，很容易改重、改偏、互相覆盖。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我们用 </a:t>
            </a:r>
            <a:r>
              <a:rPr lang="en-US" altLang="zh-CN" sz="1000">
                <a:sym typeface="+mn-ea"/>
              </a:rPr>
              <a:t>task card </a:t>
            </a:r>
            <a:r>
              <a:rPr lang="zh-CN" altLang="en-US" sz="1000">
                <a:sym typeface="+mn-ea"/>
              </a:rPr>
              <a:t>拆粒度，用 </a:t>
            </a:r>
            <a:r>
              <a:rPr lang="en-US" altLang="zh-CN" sz="1000">
                <a:sym typeface="+mn-ea"/>
              </a:rPr>
              <a:t>owner </a:t>
            </a:r>
            <a:r>
              <a:rPr lang="zh-CN" altLang="en-US" sz="1000">
                <a:sym typeface="+mn-ea"/>
              </a:rPr>
              <a:t>领卡，用保护路径和 </a:t>
            </a:r>
            <a:r>
              <a:rPr lang="en-US" altLang="zh-CN" sz="1000">
                <a:sym typeface="+mn-ea"/>
              </a:rPr>
              <a:t>DoD </a:t>
            </a:r>
            <a:r>
              <a:rPr lang="zh-CN" altLang="en-US" sz="1000">
                <a:sym typeface="+mn-ea"/>
              </a:rPr>
              <a:t>限定边界，不解决提交冲突，直接重写。</a:t>
            </a:r>
            <a:endParaRPr lang="zh-CN" altLang="en-US" sz="1000">
              <a:sym typeface="+mn-ea"/>
            </a:endParaRPr>
          </a:p>
          <a:p>
            <a:r>
              <a:rPr lang="zh-CN" altLang="en-US" sz="1000">
                <a:sym typeface="+mn-ea"/>
              </a:rPr>
              <a:t>自动提交，通过</a:t>
            </a:r>
            <a:r>
              <a:rPr lang="en-US" altLang="zh-CN" sz="1000">
                <a:sym typeface="+mn-ea"/>
              </a:rPr>
              <a:t>git action </a:t>
            </a:r>
            <a:r>
              <a:rPr lang="zh-CN" altLang="en-US" sz="1000">
                <a:sym typeface="+mn-ea"/>
              </a:rPr>
              <a:t>做</a:t>
            </a:r>
            <a:r>
              <a:rPr lang="en-US" altLang="zh-CN" sz="1000">
                <a:sym typeface="+mn-ea"/>
              </a:rPr>
              <a:t>CICD</a:t>
            </a:r>
            <a:r>
              <a:rPr lang="zh-CN" altLang="en-US" sz="1000">
                <a:sym typeface="+mn-ea"/>
              </a:rPr>
              <a:t>，全程</a:t>
            </a:r>
            <a:r>
              <a:rPr lang="en-US" altLang="zh-CN" sz="1000">
                <a:sym typeface="+mn-ea"/>
              </a:rPr>
              <a:t>0</a:t>
            </a:r>
            <a:r>
              <a:rPr lang="zh-CN" altLang="en-US" sz="1000">
                <a:sym typeface="+mn-ea"/>
              </a:rPr>
              <a:t>人工</a:t>
            </a:r>
            <a:r>
              <a:rPr lang="zh-CN" altLang="en-US" sz="1000">
                <a:sym typeface="+mn-ea"/>
              </a:rPr>
              <a:t>参与</a:t>
            </a:r>
            <a:endParaRPr lang="zh-CN" altLang="en-US" sz="1000"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31"/>
            </p:custDataLst>
          </p:nvPr>
        </p:nvSpPr>
        <p:spPr>
          <a:xfrm>
            <a:off x="761365" y="3790950"/>
            <a:ext cx="36283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coding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前对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harness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部分做了很重的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设计</a:t>
            </a:r>
            <a:endParaRPr lang="zh-CN" altLang="en-US" sz="1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不能只靠提示词约束 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AI，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必须把关键规则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硬编码（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hx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）。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LLM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负责理解和归纳，确定性代码负责事实、流程和校验。</a:t>
            </a:r>
            <a:endParaRPr lang="zh-CN" altLang="en-US" sz="1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32"/>
            </p:custDataLst>
          </p:nvPr>
        </p:nvSpPr>
        <p:spPr>
          <a:xfrm>
            <a:off x="4810125" y="3790950"/>
            <a:ext cx="36283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任务间出现依赖；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coding 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期间 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by pass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也</a:t>
            </a:r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导致代码，报告都遇到过异常。</a:t>
            </a:r>
            <a:endParaRPr lang="zh-CN" altLang="en-US" sz="1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每次修复都补测试，沉淀成可回归 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case。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914400"/>
            <a:ext cx="1463040" cy="29260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 2026 HACKATHON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Diggy挖挖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54864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9595"/>
            <a:ext cx="2266315" cy="10807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algn="l">
              <a:buClrTx/>
              <a:buSzTx/>
              <a:buFontTx/>
              <a:buNone/>
            </a:pPr>
            <a:r>
              <a:rPr lang="en-US" sz="48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Q&amp;A</a:t>
            </a:r>
            <a:endParaRPr lang="en-US" sz="48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8046720" cy="0"/>
          </a:xfrm>
          <a:prstGeom prst="line">
            <a:avLst/>
          </a:prstGeom>
          <a:noFill/>
          <a:ln w="9525">
            <a:solidFill>
              <a:srgbClr val="F5E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526280"/>
            <a:ext cx="670179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7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Miller  /  Simon  /  Brooker - </a:t>
            </a:r>
            <a:r>
              <a:rPr lang="zh-CN" altLang="en-US" sz="1100" dirty="0">
                <a:solidFill>
                  <a:srgbClr val="8B7E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打出风采</a:t>
            </a:r>
            <a:endParaRPr lang="en-US" altLang="zh-CN" sz="1100" dirty="0">
              <a:solidFill>
                <a:srgbClr val="8B7E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endParaRPr lang="en-US" altLang="zh-CN" sz="1100" dirty="0">
              <a:solidFill>
                <a:srgbClr val="8B7E7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15" name="图片 14" descr="diggy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3460" y="815340"/>
            <a:ext cx="3528060" cy="35280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arb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735" y="0"/>
            <a:ext cx="7795895" cy="51435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2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3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4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5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6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7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8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9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10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11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12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13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14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15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16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17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18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19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20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21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22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23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24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25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26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27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28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29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30.xml><?xml version="1.0" encoding="utf-8"?>
<p:tagLst xmlns:p="http://schemas.openxmlformats.org/presentationml/2006/main">
  <p:tag name="KSO_WM_DIAGRAM_VIRTUALLY_FRAME" val="{&quot;height&quot;:266.4,&quot;left&quot;:288,&quot;top&quot;:108,&quot;width&quot;:381.6}"/>
</p:tagLst>
</file>

<file path=ppt/tags/tag31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32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33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34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35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36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37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38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39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40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41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42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43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44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45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46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47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48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49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50.xml><?xml version="1.0" encoding="utf-8"?>
<p:tagLst xmlns:p="http://schemas.openxmlformats.org/presentationml/2006/main">
  <p:tag name="KSO_WM_DIAGRAM_VIRTUALLY_FRAME" val="{&quot;height&quot;:234,&quot;left&quot;:41.4,&quot;top&quot;:86.4,&quot;width&quot;:656.28}"/>
</p:tagLst>
</file>

<file path=ppt/tags/tag51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52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53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54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55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56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57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58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59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60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61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62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63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64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65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66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67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68.xml><?xml version="1.0" encoding="utf-8"?>
<p:tagLst xmlns:p="http://schemas.openxmlformats.org/presentationml/2006/main">
  <p:tag name="KSO_WM_DIAGRAM_VIRTUALLY_FRAME" val="{&quot;height&quot;:294.1,&quot;left&quot;:21.6,&quot;top&quot;:63.30999999999999,&quot;width&quot;:698.4}"/>
</p:tagLst>
</file>

<file path=ppt/tags/tag69.xml><?xml version="1.0" encoding="utf-8"?>
<p:tagLst xmlns:p="http://schemas.openxmlformats.org/presentationml/2006/main">
  <p:tag name="KSO_WM_DIAGRAM_VIRTUALLY_FRAME" val="{&quot;height&quot;:298.4,&quot;left&quot;:19.5,&quot;top&quot;:94.7,&quot;width&quot;:688.45}"/>
</p:tagLst>
</file>

<file path=ppt/tags/tag70.xml><?xml version="1.0" encoding="utf-8"?>
<p:tagLst xmlns:p="http://schemas.openxmlformats.org/presentationml/2006/main">
  <p:tag name="KSO_WM_DIAGRAM_VIRTUALLY_FRAME" val="{&quot;height&quot;:298.4,&quot;left&quot;:19.5,&quot;top&quot;:94.7,&quot;width&quot;:688.45}"/>
</p:tagLst>
</file>

<file path=ppt/tags/tag71.xml><?xml version="1.0" encoding="utf-8"?>
<p:tagLst xmlns:p="http://schemas.openxmlformats.org/presentationml/2006/main">
  <p:tag name="KSO_WM_DIAGRAM_VIRTUALLY_FRAME" val="{&quot;height&quot;:298.4,&quot;left&quot;:19.5,&quot;top&quot;:94.7,&quot;width&quot;:688.45}"/>
</p:tagLst>
</file>

<file path=ppt/tags/tag72.xml><?xml version="1.0" encoding="utf-8"?>
<p:tagLst xmlns:p="http://schemas.openxmlformats.org/presentationml/2006/main">
  <p:tag name="KSO_WM_DIAGRAM_VIRTUALLY_FRAME" val="{&quot;height&quot;:298.4,&quot;left&quot;:19.5,&quot;top&quot;:94.7,&quot;width&quot;:688.45}"/>
</p:tagLst>
</file>

<file path=ppt/tags/tag73.xml><?xml version="1.0" encoding="utf-8"?>
<p:tagLst xmlns:p="http://schemas.openxmlformats.org/presentationml/2006/main">
  <p:tag name="KSO_WM_DIAGRAM_VIRTUALLY_FRAME" val="{&quot;height&quot;:298.4,&quot;left&quot;:19.5,&quot;top&quot;:94.7,&quot;width&quot;:688.45}"/>
</p:tagLst>
</file>

<file path=ppt/tags/tag74.xml><?xml version="1.0" encoding="utf-8"?>
<p:tagLst xmlns:p="http://schemas.openxmlformats.org/presentationml/2006/main">
  <p:tag name="KSO_WM_DIAGRAM_VIRTUALLY_FRAME" val="{&quot;height&quot;:298.4,&quot;left&quot;:19.5,&quot;top&quot;:94.7,&quot;width&quot;:688.45}"/>
</p:tagLst>
</file>

<file path=ppt/tags/tag75.xml><?xml version="1.0" encoding="utf-8"?>
<p:tagLst xmlns:p="http://schemas.openxmlformats.org/presentationml/2006/main">
  <p:tag name="KSO_WM_DIAGRAM_VIRTUALLY_FRAME" val="{&quot;height&quot;:298.4,&quot;left&quot;:19.5,&quot;top&quot;:94.7,&quot;width&quot;:688.45}"/>
</p:tagLst>
</file>

<file path=ppt/tags/tag76.xml><?xml version="1.0" encoding="utf-8"?>
<p:tagLst xmlns:p="http://schemas.openxmlformats.org/presentationml/2006/main">
  <p:tag name="KSO_WM_DIAGRAM_VIRTUALLY_FRAME" val="{&quot;height&quot;:298.4,&quot;left&quot;:19.5,&quot;top&quot;:94.7,&quot;width&quot;:688.45}"/>
</p:tagLst>
</file>

<file path=ppt/tags/tag77.xml><?xml version="1.0" encoding="utf-8"?>
<p:tagLst xmlns:p="http://schemas.openxmlformats.org/presentationml/2006/main">
  <p:tag name="KSO_WM_DIAGRAM_VIRTUALLY_FRAME" val="{&quot;height&quot;:298.4,&quot;left&quot;:19.5,&quot;top&quot;:94.7,&quot;width&quot;:688.45}"/>
</p:tagLst>
</file>

<file path=ppt/tags/tag78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79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80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81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82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83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84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85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86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87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88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89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90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91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92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93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94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95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96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97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98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99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100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101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102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103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104.xml><?xml version="1.0" encoding="utf-8"?>
<p:tagLst xmlns:p="http://schemas.openxmlformats.org/presentationml/2006/main">
  <p:tag name="KSO_WM_DIAGRAM_VIRTUALLY_FRAME" val="{&quot;height&quot;:213.75,&quot;left&quot;:45,&quot;top&quot;:112.5,&quot;width&quot;:628.5}"/>
</p:tagLst>
</file>

<file path=ppt/tags/tag105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06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07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08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09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10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11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12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13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14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15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16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17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18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19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20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21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22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23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24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25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26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27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ags/tag128.xml><?xml version="1.0" encoding="utf-8"?>
<p:tagLst xmlns:p="http://schemas.openxmlformats.org/presentationml/2006/main">
  <p:tag name="KSO_WM_DIAGRAM_VIRTUALLY_FRAME" val="{&quot;height&quot;:252.9,&quot;left&quot;:45,&quot;top&quot;:110.85,&quot;width&quot;:63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4404</Words>
  <Application>WPS 演示</Application>
  <PresentationFormat>On-screen Show (16:9)</PresentationFormat>
  <Paragraphs>570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Calibri</vt:lpstr>
      <vt:lpstr>Calibri</vt:lpstr>
      <vt:lpstr>微软雅黑</vt:lpstr>
      <vt:lpstr>微软雅黑</vt:lpstr>
      <vt:lpstr>Calibri</vt:lpstr>
      <vt:lpstr>Times New Roman</vt:lpstr>
      <vt:lpstr>Noto Sans SC</vt:lpstr>
      <vt:lpstr>Arial Unicode MS</vt:lpstr>
      <vt:lpstr>等线</vt:lpstr>
      <vt:lpstr>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CT 2026 Hackathon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Diggy Wakuwa - DevOps AI Agent</dc:title>
  <dc:creator>Diggy Team</dc:creator>
  <dc:subject>PptxGenJS Presentation</dc:subject>
  <cp:lastModifiedBy>HH.</cp:lastModifiedBy>
  <cp:revision>152</cp:revision>
  <dcterms:created xsi:type="dcterms:W3CDTF">2026-06-13T07:50:00Z</dcterms:created>
  <dcterms:modified xsi:type="dcterms:W3CDTF">2026-06-14T06:35:24Z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D5F758975B0A4AE3B316731D97A70076_13</vt:lpwstr>
  </property>
  <property fmtid="{D5CDD505-2E9C-101B-9397-08002B2CF9AE}" pid="3" name="KSOProductBuildVer">
    <vt:lpwstr>2052-12.1.0.26895</vt:lpwstr>
  </property>
  <property fmtid="{D5CDD505-2E9C-101B-9397-08002B2CF9AE}" pid="4" name="AIGC">
    <vt:lpwstr>{"Label":"1","ContentProducer":"Minimax Agent AI","ProduceID":"user:495013824042708999/node:408724443809212/ts:1781340023147","ReservedCode1":"","ContentPropagator":"Minimax Agent AI","PropagateID":"user:495013824042708999/node:408724443809212/ts:1781340023147","ReservedCode2":""}</vt:lpwstr>
  </property>
</Properties>
</file>